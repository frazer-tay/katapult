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39" y="563880"/>
            <a:ext cx="1109472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39" y="320040"/>
            <a:ext cx="7467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0639" y="320040"/>
            <a:ext cx="37185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8A927D"/>
                </a:solidFill>
                <a:latin typeface="Segoe UI"/>
              </a:rPr>
              <a:t>Bahasa Indo Prep Companion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399" y="320040"/>
            <a:ext cx="4419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8A927D"/>
                </a:solidFill>
                <a:latin typeface="Segoe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39" y="960120"/>
            <a:ext cx="548639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7FAE2D"/>
                </a:solidFill>
                <a:latin typeface="Segoe UI"/>
              </a:rPr>
              <a:t>SHOWCASE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39" y="1234439"/>
            <a:ext cx="5486399" cy="1417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8202B"/>
                </a:solidFill>
                <a:latin typeface="Bahnschrift"/>
              </a:rPr>
              <a:t>Bahasa Indo practice,</a:t>
            </a:r>
            <a:br/>
            <a:r>
              <a:rPr sz="3400" b="0">
                <a:solidFill>
                  <a:srgbClr val="18202B"/>
                </a:solidFill>
                <a:latin typeface="Bahnschrift"/>
              </a:rPr>
              <a:t>made structured and</a:t>
            </a:r>
            <a:br/>
            <a:r>
              <a:rPr sz="3400" b="0">
                <a:solidFill>
                  <a:srgbClr val="18202B"/>
                </a:solidFill>
                <a:latin typeface="Bahnschrift"/>
              </a:rPr>
              <a:t>repeatable.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39" y="2788920"/>
            <a:ext cx="548639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50" b="0">
                <a:solidFill>
                  <a:srgbClr val="667085"/>
                </a:solidFill>
                <a:latin typeface="Segoe UI"/>
              </a:rPr>
              <a:t>KataPult turns collected notes, online material, Quizlet-style recall sets and generated practice content into modular exam prep.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52259" y="1234439"/>
            <a:ext cx="4914899" cy="3810000"/>
          </a:xfrm>
          <a:prstGeom prst="roundRect">
            <a:avLst/>
          </a:prstGeom>
          <a:solidFill>
            <a:srgbClr val="E1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91299" y="1143000"/>
            <a:ext cx="4914899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91299" y="1143000"/>
            <a:ext cx="4914899" cy="304800"/>
          </a:xfrm>
          <a:prstGeom prst="round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58939" y="1249680"/>
            <a:ext cx="91439" cy="91440"/>
          </a:xfrm>
          <a:prstGeom prst="ellipse">
            <a:avLst/>
          </a:prstGeom>
          <a:solidFill>
            <a:srgbClr val="E3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41819" y="1249680"/>
            <a:ext cx="91439" cy="91440"/>
          </a:xfrm>
          <a:prstGeom prst="ellipse">
            <a:avLst/>
          </a:prstGeom>
          <a:solidFill>
            <a:srgbClr val="E2B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24699" y="1249680"/>
            <a:ext cx="91439" cy="91440"/>
          </a:xfrm>
          <a:prstGeom prst="ellipse">
            <a:avLst/>
          </a:prstGeom>
          <a:solidFill>
            <a:srgbClr val="55B9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03819" y="1249680"/>
            <a:ext cx="3589019" cy="99059"/>
          </a:xfrm>
          <a:prstGeom prst="round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359" y="1922938"/>
            <a:ext cx="4716779" cy="2554922"/>
          </a:xfrm>
          <a:prstGeom prst="rect">
            <a:avLst/>
          </a:prstGeom>
        </p:spPr>
      </p:pic>
      <p:cxnSp>
        <p:nvCxnSpPr>
          <p:cNvPr id="17" name="Connector 16"/>
          <p:cNvCxnSpPr/>
          <p:nvPr/>
        </p:nvCxnSpPr>
        <p:spPr>
          <a:xfrm>
            <a:off x="548639" y="5852160"/>
            <a:ext cx="2788920" cy="0"/>
          </a:xfrm>
          <a:prstGeom prst="line">
            <a:avLst/>
          </a:prstGeom>
          <a:ln w="38100">
            <a:solidFill>
              <a:srgbClr val="7FA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39" y="6065520"/>
            <a:ext cx="79247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Core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2079" y="6065520"/>
            <a:ext cx="515111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667085"/>
                </a:solidFill>
                <a:latin typeface="Segoe UI"/>
              </a:rPr>
              <a:t>Pick a module. Practise briefly. Review. Keep the streak alive.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39" y="563880"/>
            <a:ext cx="1109472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39" y="320040"/>
            <a:ext cx="7467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0639" y="320040"/>
            <a:ext cx="37185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8A927D"/>
                </a:solidFill>
                <a:latin typeface="Segoe UI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399" y="320040"/>
            <a:ext cx="4419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8A927D"/>
                </a:solidFill>
                <a:latin typeface="Segoe U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39" y="960120"/>
            <a:ext cx="594359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7FAE2D"/>
                </a:solidFill>
                <a:latin typeface="Segoe UI"/>
              </a:rPr>
              <a:t>PREPARATION REALITY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39" y="1234439"/>
            <a:ext cx="5943599" cy="94487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8202B"/>
                </a:solidFill>
                <a:latin typeface="Bahnschrift"/>
              </a:rPr>
              <a:t>The friction was restarting</a:t>
            </a:r>
            <a:br/>
            <a:r>
              <a:rPr sz="3400" b="0">
                <a:solidFill>
                  <a:srgbClr val="18202B"/>
                </a:solidFill>
                <a:latin typeface="Bahnschrift"/>
              </a:rPr>
              <a:t>practice consistently.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39" y="2316480"/>
            <a:ext cx="594359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50" b="0">
                <a:solidFill>
                  <a:srgbClr val="667085"/>
                </a:solidFill>
                <a:latin typeface="Segoe UI"/>
              </a:rPr>
              <a:t>The content was already there. The missing part was a structured way to turn it into repeatable exam practice.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59" y="3284219"/>
            <a:ext cx="1188719" cy="2057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Online refs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20239" y="3383280"/>
            <a:ext cx="2179320" cy="0"/>
          </a:xfrm>
          <a:prstGeom prst="line">
            <a:avLst/>
          </a:prstGeom>
          <a:ln w="1524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70559" y="3680459"/>
            <a:ext cx="1188719" cy="2057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Notes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20239" y="3779519"/>
            <a:ext cx="2179320" cy="0"/>
          </a:xfrm>
          <a:prstGeom prst="line">
            <a:avLst/>
          </a:prstGeom>
          <a:ln w="1524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70559" y="4076699"/>
            <a:ext cx="1188719" cy="2057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Screenshots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20239" y="4175760"/>
            <a:ext cx="2179320" cy="0"/>
          </a:xfrm>
          <a:prstGeom prst="line">
            <a:avLst/>
          </a:prstGeom>
          <a:ln w="1524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0559" y="4472940"/>
            <a:ext cx="1188719" cy="2057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Quizlet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920239" y="4572000"/>
            <a:ext cx="2179320" cy="0"/>
          </a:xfrm>
          <a:prstGeom prst="line">
            <a:avLst/>
          </a:prstGeom>
          <a:ln w="1524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70559" y="4869179"/>
            <a:ext cx="1188719" cy="2057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LLM prompts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920239" y="4968240"/>
            <a:ext cx="2179320" cy="0"/>
          </a:xfrm>
          <a:prstGeom prst="line">
            <a:avLst/>
          </a:prstGeom>
          <a:ln w="1524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70559" y="5265420"/>
            <a:ext cx="1188719" cy="2057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Raw lists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920239" y="5364480"/>
            <a:ext cx="2179320" cy="0"/>
          </a:xfrm>
          <a:prstGeom prst="line">
            <a:avLst/>
          </a:prstGeom>
          <a:ln w="1524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739639" y="3017520"/>
            <a:ext cx="0" cy="2621279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166359" y="3276600"/>
            <a:ext cx="3368039" cy="259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18202B"/>
                </a:solidFill>
                <a:latin typeface="Segoe UI"/>
              </a:rPr>
              <a:t>What kept breaking</a:t>
            </a:r>
          </a:p>
        </p:txBody>
      </p:sp>
      <p:sp>
        <p:nvSpPr>
          <p:cNvPr id="23" name="Oval 22"/>
          <p:cNvSpPr/>
          <p:nvPr/>
        </p:nvSpPr>
        <p:spPr>
          <a:xfrm>
            <a:off x="5151119" y="3848099"/>
            <a:ext cx="106679" cy="106680"/>
          </a:xfrm>
          <a:prstGeom prst="ellipse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10199" y="3810000"/>
            <a:ext cx="403859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8202B"/>
                </a:solidFill>
                <a:latin typeface="Segoe UI"/>
              </a:rPr>
              <a:t>No fixed practice path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0199" y="4053840"/>
            <a:ext cx="548639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667085"/>
                </a:solidFill>
                <a:latin typeface="Segoe UI"/>
              </a:rPr>
              <a:t>Learners had to decide where to restart each time.</a:t>
            </a:r>
          </a:p>
        </p:txBody>
      </p:sp>
      <p:sp>
        <p:nvSpPr>
          <p:cNvPr id="26" name="Oval 25"/>
          <p:cNvSpPr/>
          <p:nvPr/>
        </p:nvSpPr>
        <p:spPr>
          <a:xfrm>
            <a:off x="5151119" y="4442460"/>
            <a:ext cx="106679" cy="106680"/>
          </a:xfrm>
          <a:prstGeom prst="ellipse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10199" y="4404360"/>
            <a:ext cx="403859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8202B"/>
                </a:solidFill>
                <a:latin typeface="Segoe UI"/>
              </a:rPr>
              <a:t>Weak areas needed drilling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10199" y="4648200"/>
            <a:ext cx="548639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667085"/>
                </a:solidFill>
                <a:latin typeface="Segoe UI"/>
              </a:rPr>
              <a:t>Imbuhan, persamaan and formal writing require retrieval.</a:t>
            </a:r>
          </a:p>
        </p:txBody>
      </p:sp>
      <p:sp>
        <p:nvSpPr>
          <p:cNvPr id="29" name="Oval 28"/>
          <p:cNvSpPr/>
          <p:nvPr/>
        </p:nvSpPr>
        <p:spPr>
          <a:xfrm>
            <a:off x="5151119" y="5036820"/>
            <a:ext cx="106679" cy="106680"/>
          </a:xfrm>
          <a:prstGeom prst="ellipse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10199" y="4998720"/>
            <a:ext cx="403859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8202B"/>
                </a:solidFill>
                <a:latin typeface="Segoe UI"/>
              </a:rPr>
              <a:t>Progress was invisible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10199" y="5242560"/>
            <a:ext cx="548639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667085"/>
                </a:solidFill>
                <a:latin typeface="Segoe UI"/>
              </a:rPr>
              <a:t>There was no consistent log of sections, time or attempts.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39" y="563880"/>
            <a:ext cx="1109472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39" y="320040"/>
            <a:ext cx="7467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0639" y="320040"/>
            <a:ext cx="37185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8A927D"/>
                </a:solidFill>
                <a:latin typeface="Segoe UI"/>
              </a:rPr>
              <a:t>Source Weave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399" y="320040"/>
            <a:ext cx="4419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8A927D"/>
                </a:solidFill>
                <a:latin typeface="Segoe U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39" y="960120"/>
            <a:ext cx="548639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7FAE2D"/>
                </a:solidFill>
                <a:latin typeface="Segoe UI"/>
              </a:rPr>
              <a:t>CONTENT PROVENANCE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39" y="1234439"/>
            <a:ext cx="5486399" cy="94487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8202B"/>
                </a:solidFill>
                <a:latin typeface="Bahnschrift"/>
              </a:rPr>
              <a:t>The deck is clearer when</a:t>
            </a:r>
            <a:br/>
            <a:r>
              <a:rPr sz="3400" b="0">
                <a:solidFill>
                  <a:srgbClr val="18202B"/>
                </a:solidFill>
                <a:latin typeface="Bahnschrift"/>
              </a:rPr>
              <a:t>the sources are named.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39" y="2316480"/>
            <a:ext cx="548639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50" b="0">
                <a:solidFill>
                  <a:srgbClr val="667085"/>
                </a:solidFill>
                <a:latin typeface="Segoe UI"/>
              </a:rPr>
              <a:t>The app combines collected online materials, Quizlet-style recall content and LLM-generated expansions, then exposes them as practice modules.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9119" y="3002280"/>
            <a:ext cx="589788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9119" y="3154680"/>
            <a:ext cx="20116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8202B"/>
                </a:solidFill>
                <a:latin typeface="Segoe UI"/>
              </a:rPr>
              <a:t>Online / collected lists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199" y="3154680"/>
            <a:ext cx="2514599" cy="350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Segoe UI"/>
              </a:rPr>
              <a:t>Vocabulary and karangan seed banks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399" y="3154680"/>
            <a:ext cx="1356359" cy="350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19" b="1">
                <a:solidFill>
                  <a:srgbClr val="7FAE2D"/>
                </a:solidFill>
                <a:latin typeface="Segoe UI"/>
              </a:rPr>
              <a:t>583 vocab + 297 karangan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9119" y="3627119"/>
            <a:ext cx="589788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9119" y="3779519"/>
            <a:ext cx="20116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8202B"/>
                </a:solidFill>
                <a:latin typeface="Segoe UI"/>
              </a:rPr>
              <a:t>Quizlet-style 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199" y="3779519"/>
            <a:ext cx="2514599" cy="350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Segoe UI"/>
              </a:rPr>
              <a:t>Flashcard sets for essays and useful phrases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399" y="3779519"/>
            <a:ext cx="1356359" cy="350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19" b="1">
                <a:solidFill>
                  <a:srgbClr val="7FAE2D"/>
                </a:solidFill>
                <a:latin typeface="Segoe UI"/>
              </a:rPr>
              <a:t>23 sets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9119" y="4251960"/>
            <a:ext cx="589788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79119" y="4404360"/>
            <a:ext cx="20116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8202B"/>
                </a:solidFill>
                <a:latin typeface="Segoe UI"/>
              </a:rPr>
              <a:t>LLM-generated expansions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199" y="4404360"/>
            <a:ext cx="2514599" cy="350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Segoe UI"/>
              </a:rPr>
              <a:t>Synonyms, model points, practice phrasing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4404360"/>
            <a:ext cx="1356359" cy="350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19" b="1">
                <a:solidFill>
                  <a:srgbClr val="C88A2C"/>
                </a:solidFill>
                <a:latin typeface="Segoe UI"/>
              </a:rPr>
              <a:t>Needs review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79119" y="4876800"/>
            <a:ext cx="589788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79119" y="5029200"/>
            <a:ext cx="20116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8202B"/>
                </a:solidFill>
                <a:latin typeface="Segoe UI"/>
              </a:rPr>
              <a:t>App logic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199" y="5029200"/>
            <a:ext cx="2514599" cy="350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Segoe UI"/>
              </a:rPr>
              <a:t>Modules, tests and daily challenge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399" y="5029200"/>
            <a:ext cx="1356359" cy="350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19" b="1">
                <a:solidFill>
                  <a:srgbClr val="7FAE2D"/>
                </a:solidFill>
                <a:latin typeface="Segoe UI"/>
              </a:rPr>
              <a:t>1,554 pool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47559" y="1417320"/>
            <a:ext cx="4419599" cy="3291839"/>
          </a:xfrm>
          <a:prstGeom prst="roundRect">
            <a:avLst/>
          </a:prstGeom>
          <a:solidFill>
            <a:srgbClr val="E1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086599" y="1325880"/>
            <a:ext cx="4419599" cy="3291839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086599" y="1325880"/>
            <a:ext cx="4419599" cy="304800"/>
          </a:xfrm>
          <a:prstGeom prst="round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254239" y="1432560"/>
            <a:ext cx="91439" cy="91440"/>
          </a:xfrm>
          <a:prstGeom prst="ellipse">
            <a:avLst/>
          </a:prstGeom>
          <a:solidFill>
            <a:srgbClr val="E3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437119" y="1432560"/>
            <a:ext cx="91439" cy="91440"/>
          </a:xfrm>
          <a:prstGeom prst="ellipse">
            <a:avLst/>
          </a:prstGeom>
          <a:solidFill>
            <a:srgbClr val="E2B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619999" y="1432560"/>
            <a:ext cx="91439" cy="91440"/>
          </a:xfrm>
          <a:prstGeom prst="ellipse">
            <a:avLst/>
          </a:prstGeom>
          <a:solidFill>
            <a:srgbClr val="55B9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99119" y="1432560"/>
            <a:ext cx="3093719" cy="99059"/>
          </a:xfrm>
          <a:prstGeom prst="round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05-flash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5659" y="1980882"/>
            <a:ext cx="4221479" cy="2286635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7086599" y="5074920"/>
            <a:ext cx="4419599" cy="838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223759" y="5212080"/>
            <a:ext cx="38099" cy="563880"/>
          </a:xfrm>
          <a:prstGeom prst="roundRect">
            <a:avLst/>
          </a:prstGeom>
          <a:solidFill>
            <a:srgbClr val="C88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91399" y="5227320"/>
            <a:ext cx="396239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8202B"/>
                </a:solidFill>
                <a:latin typeface="Segoe UI"/>
              </a:rPr>
              <a:t>Important framing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91399" y="5455920"/>
            <a:ext cx="3977639" cy="3352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19" b="0">
                <a:solidFill>
                  <a:srgbClr val="667085"/>
                </a:solidFill>
                <a:latin typeface="Segoe UI"/>
              </a:rPr>
              <a:t>Counts describe app content banks; source quality still needs human review where raw data says generated.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39" y="563880"/>
            <a:ext cx="1109472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39" y="320040"/>
            <a:ext cx="7467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0639" y="320040"/>
            <a:ext cx="37185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8A927D"/>
                </a:solidFill>
                <a:latin typeface="Segoe UI"/>
              </a:rPr>
              <a:t>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399" y="320040"/>
            <a:ext cx="4419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8A927D"/>
                </a:solidFill>
                <a:latin typeface="Segoe U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39" y="960120"/>
            <a:ext cx="541019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7FAE2D"/>
                </a:solidFill>
                <a:latin typeface="Segoe UI"/>
              </a:rPr>
              <a:t>PRACTICE 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39" y="1234439"/>
            <a:ext cx="5410199" cy="94487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8202B"/>
                </a:solidFill>
                <a:latin typeface="Bahnschrift"/>
              </a:rPr>
              <a:t>1,554 drill-ready</a:t>
            </a:r>
            <a:br/>
            <a:r>
              <a:rPr sz="3400" b="0">
                <a:solidFill>
                  <a:srgbClr val="18202B"/>
                </a:solidFill>
                <a:latin typeface="Bahnschrift"/>
              </a:rPr>
              <a:t>questions.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39" y="2316480"/>
            <a:ext cx="541019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50" b="0">
                <a:solidFill>
                  <a:srgbClr val="667085"/>
                </a:solidFill>
                <a:latin typeface="Segoe UI"/>
              </a:rPr>
              <a:t>This is the top-line question pool for active drills and daily challenge.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9119" y="2987040"/>
            <a:ext cx="2346959" cy="502920"/>
          </a:xfrm>
          <a:prstGeom prst="roundRect">
            <a:avLst/>
          </a:prstGeom>
          <a:solidFill>
            <a:srgbClr val="1F6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6279" y="3108960"/>
            <a:ext cx="211835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583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279" y="3291839"/>
            <a:ext cx="21183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FFFFFF"/>
                </a:solidFill>
                <a:latin typeface="Segoe UI"/>
              </a:rPr>
              <a:t>Vocabulary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79" y="2987040"/>
            <a:ext cx="2674619" cy="502920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3239" y="3108960"/>
            <a:ext cx="244601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666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39" y="3291839"/>
            <a:ext cx="244601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FFFFFF"/>
                </a:solidFill>
                <a:latin typeface="Segoe UI"/>
              </a:rPr>
              <a:t>Imbuhan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00699" y="2987040"/>
            <a:ext cx="1226819" cy="502920"/>
          </a:xfrm>
          <a:prstGeom prst="roundRect">
            <a:avLst/>
          </a:prstGeom>
          <a:solidFill>
            <a:srgbClr val="C88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37859" y="3108960"/>
            <a:ext cx="99821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305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37859" y="3291839"/>
            <a:ext cx="99821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FFFFFF"/>
                </a:solidFill>
                <a:latin typeface="Segoe UI"/>
              </a:rPr>
              <a:t>Persamaan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9119" y="3718560"/>
            <a:ext cx="6278879" cy="243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20" b="1">
                <a:solidFill>
                  <a:srgbClr val="18202B"/>
                </a:solidFill>
                <a:latin typeface="Segoe UI"/>
              </a:rPr>
              <a:t>583 vocabulary + 666 imbuhan + 305 persamaan = 1,554 drill-ready 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9119" y="4038600"/>
            <a:ext cx="521207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Segoe UI"/>
              </a:rPr>
              <a:t>Used by: component drills and daily challenge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26079" y="4465320"/>
            <a:ext cx="3901440" cy="0"/>
          </a:xfrm>
          <a:prstGeom prst="line">
            <a:avLst/>
          </a:prstGeom>
          <a:ln w="38100">
            <a:solidFill>
              <a:srgbClr val="7FA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926079" y="4373880"/>
            <a:ext cx="0" cy="182879"/>
          </a:xfrm>
          <a:prstGeom prst="line">
            <a:avLst/>
          </a:prstGeom>
          <a:ln w="38100">
            <a:solidFill>
              <a:srgbClr val="7FA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827519" y="4373880"/>
            <a:ext cx="0" cy="182879"/>
          </a:xfrm>
          <a:prstGeom prst="line">
            <a:avLst/>
          </a:prstGeom>
          <a:ln w="38100">
            <a:solidFill>
              <a:srgbClr val="7FA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926079" y="4693920"/>
            <a:ext cx="39014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18202B"/>
                </a:solidFill>
                <a:latin typeface="Segoe UI"/>
              </a:rPr>
              <a:t>Custom-test subset: 971 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79" y="4953000"/>
            <a:ext cx="3901439" cy="441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67085"/>
                </a:solidFill>
                <a:latin typeface="Segoe UI"/>
              </a:rPr>
              <a:t>666 imbuhan + 305 persamaan. Vocabulary is not part of custom-test mode.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9119" y="5532120"/>
            <a:ext cx="6248399" cy="624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6759" y="5730240"/>
            <a:ext cx="248411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Separate revision resources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759" y="5943600"/>
            <a:ext cx="598931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667085"/>
                </a:solidFill>
                <a:latin typeface="Segoe UI"/>
              </a:rPr>
              <a:t>Karangan: 297 vocab/synonym items   |   Surat resmi: 8 sections   |   Flashcards: 23 sets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199" y="1341120"/>
            <a:ext cx="4190999" cy="41757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79" y="1554480"/>
            <a:ext cx="3322319" cy="243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8202B"/>
                </a:solidFill>
                <a:latin typeface="Segoe UI"/>
              </a:rPr>
              <a:t>How to read the numbers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98079" y="1889759"/>
            <a:ext cx="382524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498079" y="2072640"/>
            <a:ext cx="990599" cy="289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7FAE2D"/>
                </a:solidFill>
                <a:latin typeface="Bahnschrift"/>
              </a:rPr>
              <a:t>1,554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45879" y="2087880"/>
            <a:ext cx="225551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Top-line question pool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45879" y="2316480"/>
            <a:ext cx="2301239" cy="4267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67085"/>
                </a:solidFill>
                <a:latin typeface="Segoe UI"/>
              </a:rPr>
              <a:t>All active question items available for drills/daily challenge.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498079" y="2910840"/>
            <a:ext cx="382524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498079" y="3093720"/>
            <a:ext cx="990599" cy="289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7FAE2D"/>
                </a:solidFill>
                <a:latin typeface="Bahnschrift"/>
              </a:rPr>
              <a:t>971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45879" y="3108960"/>
            <a:ext cx="225551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Custom-test bank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45879" y="3337560"/>
            <a:ext cx="2301239" cy="4267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67085"/>
                </a:solidFill>
                <a:latin typeface="Segoe UI"/>
              </a:rPr>
              <a:t>Subset of the question pool: imbuhan + persamaan only.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498079" y="3931920"/>
            <a:ext cx="382524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498079" y="4114800"/>
            <a:ext cx="990599" cy="289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1F6D78"/>
                </a:solidFill>
                <a:latin typeface="Bahnschrift"/>
              </a:rPr>
              <a:t>separate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45879" y="4130040"/>
            <a:ext cx="225551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Revision resources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45879" y="4358640"/>
            <a:ext cx="2301239" cy="4267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67085"/>
                </a:solidFill>
                <a:latin typeface="Segoe UI"/>
              </a:rPr>
              <a:t>Essay, letter and flashcard material supports writing practice outside test mode.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39" y="563880"/>
            <a:ext cx="1109472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39" y="320040"/>
            <a:ext cx="7467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0639" y="320040"/>
            <a:ext cx="37185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8A927D"/>
                </a:solidFill>
                <a:latin typeface="Segoe UI"/>
              </a:rPr>
              <a:t>Feature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399" y="320040"/>
            <a:ext cx="4419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8A927D"/>
                </a:solidFill>
                <a:latin typeface="Segoe U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39" y="960120"/>
            <a:ext cx="548639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7FAE2D"/>
                </a:solidFill>
                <a:latin typeface="Segoe UI"/>
              </a:rPr>
              <a:t>MODULAR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39" y="1234439"/>
            <a:ext cx="5486399" cy="94487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8202B"/>
                </a:solidFill>
                <a:latin typeface="Bahnschrift"/>
              </a:rPr>
              <a:t>Each module has a</a:t>
            </a:r>
            <a:br/>
            <a:r>
              <a:rPr sz="3400" b="0">
                <a:solidFill>
                  <a:srgbClr val="18202B"/>
                </a:solidFill>
                <a:latin typeface="Bahnschrift"/>
              </a:rPr>
              <a:t>clear job.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39" y="2316480"/>
            <a:ext cx="548639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50" b="0">
                <a:solidFill>
                  <a:srgbClr val="667085"/>
                </a:solidFill>
                <a:latin typeface="Segoe UI"/>
              </a:rPr>
              <a:t>Learners can work on meaning, affixes, synonym precision, essay vocabulary, formal letters or recall without mixing all content into one giant list.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18959" y="1249680"/>
            <a:ext cx="4648199" cy="3520439"/>
          </a:xfrm>
          <a:prstGeom prst="roundRect">
            <a:avLst/>
          </a:prstGeom>
          <a:solidFill>
            <a:srgbClr val="E1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7999" y="1158240"/>
            <a:ext cx="4648199" cy="3520439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7999" y="1158240"/>
            <a:ext cx="4648199" cy="304800"/>
          </a:xfrm>
          <a:prstGeom prst="round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025639" y="1264920"/>
            <a:ext cx="91439" cy="91440"/>
          </a:xfrm>
          <a:prstGeom prst="ellipse">
            <a:avLst/>
          </a:prstGeom>
          <a:solidFill>
            <a:srgbClr val="E3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208519" y="1264920"/>
            <a:ext cx="91439" cy="91440"/>
          </a:xfrm>
          <a:prstGeom prst="ellipse">
            <a:avLst/>
          </a:prstGeom>
          <a:solidFill>
            <a:srgbClr val="E2B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91399" y="1264920"/>
            <a:ext cx="91439" cy="91440"/>
          </a:xfrm>
          <a:prstGeom prst="ellipse">
            <a:avLst/>
          </a:prstGeom>
          <a:solidFill>
            <a:srgbClr val="55B9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70519" y="1264920"/>
            <a:ext cx="3322319" cy="99059"/>
          </a:xfrm>
          <a:prstGeom prst="round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4-persama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7059" y="1865630"/>
            <a:ext cx="4450079" cy="241046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79119" y="3185160"/>
            <a:ext cx="5608319" cy="2545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1999" y="3368040"/>
            <a:ext cx="121919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8A927D"/>
                </a:solidFill>
                <a:latin typeface="Segoe UI"/>
              </a:rPr>
              <a:t>Component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79" y="3368040"/>
            <a:ext cx="172211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8A927D"/>
                </a:solidFill>
                <a:latin typeface="Segoe UI"/>
              </a:rPr>
              <a:t>Practice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1519" y="3368040"/>
            <a:ext cx="124967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8A927D"/>
                </a:solidFill>
                <a:latin typeface="Segoe UI"/>
              </a:rPr>
              <a:t>Scale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999" y="3627119"/>
            <a:ext cx="524256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61999" y="3749039"/>
            <a:ext cx="137159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18202B"/>
                </a:solidFill>
                <a:latin typeface="Segoe UI"/>
              </a:rPr>
              <a:t>Vocabulary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79" y="3749039"/>
            <a:ext cx="210311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67085"/>
                </a:solidFill>
                <a:latin typeface="Segoe UI"/>
              </a:rPr>
              <a:t>Meaning and usage drills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1519" y="3749039"/>
            <a:ext cx="124967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7FAE2D"/>
                </a:solidFill>
                <a:latin typeface="Segoe UI"/>
              </a:rPr>
              <a:t>583 items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61999" y="3947160"/>
            <a:ext cx="524256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61999" y="4069080"/>
            <a:ext cx="137159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18202B"/>
                </a:solidFill>
                <a:latin typeface="Segoe UI"/>
              </a:rPr>
              <a:t>Imbuhan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79" y="4069080"/>
            <a:ext cx="210311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67085"/>
                </a:solidFill>
                <a:latin typeface="Segoe UI"/>
              </a:rPr>
              <a:t>Word formation and affixes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41519" y="4069080"/>
            <a:ext cx="124967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7FAE2D"/>
                </a:solidFill>
                <a:latin typeface="Segoe UI"/>
              </a:rPr>
              <a:t>666 items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61999" y="4267200"/>
            <a:ext cx="524256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61999" y="4389120"/>
            <a:ext cx="137159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18202B"/>
                </a:solidFill>
                <a:latin typeface="Segoe UI"/>
              </a:rPr>
              <a:t>Persamaan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79" y="4389120"/>
            <a:ext cx="210311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67085"/>
                </a:solidFill>
                <a:latin typeface="Segoe UI"/>
              </a:rPr>
              <a:t>Synonym precision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1519" y="4389120"/>
            <a:ext cx="124967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7FAE2D"/>
                </a:solidFill>
                <a:latin typeface="Segoe UI"/>
              </a:rPr>
              <a:t>305 items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61999" y="4587240"/>
            <a:ext cx="524256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61999" y="4709159"/>
            <a:ext cx="137159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18202B"/>
                </a:solidFill>
                <a:latin typeface="Segoe UI"/>
              </a:rPr>
              <a:t>Karangan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79" y="4709159"/>
            <a:ext cx="210311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67085"/>
                </a:solidFill>
                <a:latin typeface="Segoe UI"/>
              </a:rPr>
              <a:t>Essay vocabulary and synonyms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41519" y="4709159"/>
            <a:ext cx="124967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7FAE2D"/>
                </a:solidFill>
                <a:latin typeface="Segoe UI"/>
              </a:rPr>
              <a:t>297 items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61999" y="4907280"/>
            <a:ext cx="524256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61999" y="5029200"/>
            <a:ext cx="137159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18202B"/>
                </a:solidFill>
                <a:latin typeface="Segoe UI"/>
              </a:rPr>
              <a:t>Surat resmi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79" y="5029200"/>
            <a:ext cx="210311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67085"/>
                </a:solidFill>
                <a:latin typeface="Segoe UI"/>
              </a:rPr>
              <a:t>Structure, tone and examples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41519" y="5029200"/>
            <a:ext cx="124967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7FAE2D"/>
                </a:solidFill>
                <a:latin typeface="Segoe UI"/>
              </a:rPr>
              <a:t>8 sections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61999" y="5227320"/>
            <a:ext cx="524256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61999" y="5349240"/>
            <a:ext cx="137159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18202B"/>
                </a:solidFill>
                <a:latin typeface="Segoe UI"/>
              </a:rPr>
              <a:t>Flashcards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40279" y="5349240"/>
            <a:ext cx="210311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67085"/>
                </a:solidFill>
                <a:latin typeface="Segoe UI"/>
              </a:rPr>
              <a:t>Recall and spaced review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41519" y="5349240"/>
            <a:ext cx="124967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7FAE2D"/>
                </a:solidFill>
                <a:latin typeface="Segoe UI"/>
              </a:rPr>
              <a:t>23 sets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7999" y="5090160"/>
            <a:ext cx="4648199" cy="7772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995159" y="5227320"/>
            <a:ext cx="38099" cy="502920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62799" y="5242560"/>
            <a:ext cx="419099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8202B"/>
                </a:solidFill>
                <a:latin typeface="Segoe UI"/>
              </a:rPr>
              <a:t>Example shown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62799" y="5471160"/>
            <a:ext cx="420623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19" b="0">
                <a:solidFill>
                  <a:srgbClr val="667085"/>
                </a:solidFill>
                <a:latin typeface="Segoe UI"/>
              </a:rPr>
              <a:t>Persamaan requires synonym retrieval, not rereading.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39" y="563880"/>
            <a:ext cx="1109472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39" y="320040"/>
            <a:ext cx="7467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0639" y="320040"/>
            <a:ext cx="37185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8A927D"/>
                </a:solidFill>
                <a:latin typeface="Segoe UI"/>
              </a:rPr>
              <a:t>Gamified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399" y="320040"/>
            <a:ext cx="4419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8A927D"/>
                </a:solidFill>
                <a:latin typeface="Segoe U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39" y="960120"/>
            <a:ext cx="579119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7FAE2D"/>
                </a:solidFill>
                <a:latin typeface="Segoe UI"/>
              </a:rPr>
              <a:t>GAMIFIED ELEMENTS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39" y="1234439"/>
            <a:ext cx="5791199" cy="94487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8202B"/>
                </a:solidFill>
                <a:latin typeface="Bahnschrift"/>
              </a:rPr>
              <a:t>Short loops make</a:t>
            </a:r>
            <a:br/>
            <a:r>
              <a:rPr sz="3400" b="0">
                <a:solidFill>
                  <a:srgbClr val="18202B"/>
                </a:solidFill>
                <a:latin typeface="Bahnschrift"/>
              </a:rPr>
              <a:t>practice easier to restart.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39" y="2316480"/>
            <a:ext cx="579119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50" b="0">
                <a:solidFill>
                  <a:srgbClr val="667085"/>
                </a:solidFill>
                <a:latin typeface="Segoe UI"/>
              </a:rPr>
              <a:t>The app adds streaks, XP, levels, daily challenge and custom tests so revision feels modular and repeatable.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9119" y="2819399"/>
            <a:ext cx="2697479" cy="640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6279" y="2956560"/>
            <a:ext cx="38099" cy="365760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3919" y="2971800"/>
            <a:ext cx="224027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8202B"/>
                </a:solidFill>
                <a:latin typeface="Segoe UI"/>
              </a:rPr>
              <a:t>Custom test bank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919" y="3200400"/>
            <a:ext cx="2255519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19" b="0">
                <a:solidFill>
                  <a:srgbClr val="667085"/>
                </a:solidFill>
                <a:latin typeface="Segoe UI"/>
              </a:rPr>
              <a:t>971 question items for targeted weak-area practice.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799" y="2819399"/>
            <a:ext cx="2697479" cy="640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37959" y="2956560"/>
            <a:ext cx="38099" cy="365760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05599" y="2971800"/>
            <a:ext cx="224027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8202B"/>
                </a:solidFill>
                <a:latin typeface="Segoe UI"/>
              </a:rPr>
              <a:t>Daily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5599" y="3200400"/>
            <a:ext cx="2255519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19" b="0">
                <a:solidFill>
                  <a:srgbClr val="667085"/>
                </a:solidFill>
                <a:latin typeface="Segoe UI"/>
              </a:rPr>
              <a:t>10 questions from the 1,554-item pool.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79" y="3840480"/>
            <a:ext cx="4907279" cy="2362200"/>
          </a:xfrm>
          <a:prstGeom prst="roundRect">
            <a:avLst/>
          </a:prstGeom>
          <a:solidFill>
            <a:srgbClr val="E1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79119" y="3749039"/>
            <a:ext cx="4907279" cy="236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79119" y="3749039"/>
            <a:ext cx="4907279" cy="304800"/>
          </a:xfrm>
          <a:prstGeom prst="round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46759" y="3855720"/>
            <a:ext cx="91439" cy="91440"/>
          </a:xfrm>
          <a:prstGeom prst="ellipse">
            <a:avLst/>
          </a:prstGeom>
          <a:solidFill>
            <a:srgbClr val="E3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9639" y="3855720"/>
            <a:ext cx="91439" cy="91440"/>
          </a:xfrm>
          <a:prstGeom prst="ellipse">
            <a:avLst/>
          </a:prstGeom>
          <a:solidFill>
            <a:srgbClr val="E2B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12519" y="3855720"/>
            <a:ext cx="91439" cy="91440"/>
          </a:xfrm>
          <a:prstGeom prst="ellipse">
            <a:avLst/>
          </a:prstGeom>
          <a:solidFill>
            <a:srgbClr val="55B9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691639" y="3855720"/>
            <a:ext cx="3581399" cy="99059"/>
          </a:xfrm>
          <a:prstGeom prst="round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06-test-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027" y="4099560"/>
            <a:ext cx="3629464" cy="196596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461759" y="3840480"/>
            <a:ext cx="5105399" cy="2362200"/>
          </a:xfrm>
          <a:prstGeom prst="roundRect">
            <a:avLst/>
          </a:prstGeom>
          <a:solidFill>
            <a:srgbClr val="E1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799" y="3749039"/>
            <a:ext cx="5105399" cy="236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799" y="3749039"/>
            <a:ext cx="5105399" cy="304800"/>
          </a:xfrm>
          <a:prstGeom prst="round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68439" y="3855720"/>
            <a:ext cx="91439" cy="91440"/>
          </a:xfrm>
          <a:prstGeom prst="ellipse">
            <a:avLst/>
          </a:prstGeom>
          <a:solidFill>
            <a:srgbClr val="E3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751319" y="3855720"/>
            <a:ext cx="91439" cy="91440"/>
          </a:xfrm>
          <a:prstGeom prst="ellipse">
            <a:avLst/>
          </a:prstGeom>
          <a:solidFill>
            <a:srgbClr val="E2B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934199" y="3855720"/>
            <a:ext cx="91439" cy="91440"/>
          </a:xfrm>
          <a:prstGeom prst="ellipse">
            <a:avLst/>
          </a:prstGeom>
          <a:solidFill>
            <a:srgbClr val="55B9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513319" y="3855720"/>
            <a:ext cx="3779519" cy="99059"/>
          </a:xfrm>
          <a:prstGeom prst="round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07-daily-challe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8767" y="4099560"/>
            <a:ext cx="3629464" cy="196596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79119" y="6355080"/>
            <a:ext cx="765047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Segoe UI"/>
              </a:rPr>
              <a:t>Gamification is lightweight: enough feedback to encourage return visits without distracting from exam practice.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39" y="563880"/>
            <a:ext cx="1109472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39" y="320040"/>
            <a:ext cx="7467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0639" y="320040"/>
            <a:ext cx="37185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8A927D"/>
                </a:solidFill>
                <a:latin typeface="Segoe UI"/>
              </a:rPr>
              <a:t>Content Diversity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399" y="320040"/>
            <a:ext cx="4419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8A927D"/>
                </a:solidFill>
                <a:latin typeface="Segoe U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39" y="960120"/>
            <a:ext cx="518159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7FAE2D"/>
                </a:solidFill>
                <a:latin typeface="Segoe UI"/>
              </a:rPr>
              <a:t>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39" y="1234439"/>
            <a:ext cx="5181599" cy="1417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8202B"/>
                </a:solidFill>
                <a:latin typeface="Bahnschrift"/>
              </a:rPr>
              <a:t>Not just questions:</a:t>
            </a:r>
            <a:br/>
            <a:r>
              <a:rPr sz="3400" b="0">
                <a:solidFill>
                  <a:srgbClr val="18202B"/>
                </a:solidFill>
                <a:latin typeface="Bahnschrift"/>
              </a:rPr>
              <a:t>writing support is</a:t>
            </a:r>
            <a:br/>
            <a:r>
              <a:rPr sz="3400" b="0">
                <a:solidFill>
                  <a:srgbClr val="18202B"/>
                </a:solidFill>
                <a:latin typeface="Bahnschrift"/>
              </a:rPr>
              <a:t>built in too.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39" y="2788920"/>
            <a:ext cx="518159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50" b="0">
                <a:solidFill>
                  <a:srgbClr val="667085"/>
                </a:solidFill>
                <a:latin typeface="Segoe UI"/>
              </a:rPr>
              <a:t>Flashcards include full essay-topic sets; karangan and surat modules add vocabulary, structures and ready-to-adapt writing examples.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34199" y="1097280"/>
            <a:ext cx="4632959" cy="1737360"/>
          </a:xfrm>
          <a:prstGeom prst="roundRect">
            <a:avLst/>
          </a:prstGeom>
          <a:solidFill>
            <a:srgbClr val="E1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73239" y="1005840"/>
            <a:ext cx="4632959" cy="17373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73239" y="1005840"/>
            <a:ext cx="4632959" cy="304800"/>
          </a:xfrm>
          <a:prstGeom prst="round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040879" y="1112520"/>
            <a:ext cx="91439" cy="91440"/>
          </a:xfrm>
          <a:prstGeom prst="ellipse">
            <a:avLst/>
          </a:prstGeom>
          <a:solidFill>
            <a:srgbClr val="E3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223759" y="1112520"/>
            <a:ext cx="91439" cy="91440"/>
          </a:xfrm>
          <a:prstGeom prst="ellipse">
            <a:avLst/>
          </a:prstGeom>
          <a:solidFill>
            <a:srgbClr val="E2B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06639" y="1112520"/>
            <a:ext cx="91439" cy="91440"/>
          </a:xfrm>
          <a:prstGeom prst="ellipse">
            <a:avLst/>
          </a:prstGeom>
          <a:solidFill>
            <a:srgbClr val="55B9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85759" y="1112520"/>
            <a:ext cx="3307079" cy="99059"/>
          </a:xfrm>
          <a:prstGeom prst="round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8-surat-resm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762" y="1356360"/>
            <a:ext cx="2475913" cy="134112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79119" y="3276600"/>
            <a:ext cx="3230879" cy="1371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6279" y="3413760"/>
            <a:ext cx="38099" cy="1097280"/>
          </a:xfrm>
          <a:prstGeom prst="roundRect">
            <a:avLst/>
          </a:prstGeom>
          <a:solidFill>
            <a:srgbClr val="1F6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3919" y="3429000"/>
            <a:ext cx="277367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8202B"/>
                </a:solidFill>
                <a:latin typeface="Segoe UI"/>
              </a:rPr>
              <a:t>Flashcards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3919" y="3657600"/>
            <a:ext cx="2788919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19" b="0">
                <a:solidFill>
                  <a:srgbClr val="667085"/>
                </a:solidFill>
                <a:latin typeface="Segoe UI"/>
              </a:rPr>
              <a:t>21 essay-topic sets + 2 scaffold sets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3919" y="3977639"/>
            <a:ext cx="2697479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9" b="0">
                <a:solidFill>
                  <a:srgbClr val="667085"/>
                </a:solidFill>
                <a:latin typeface="Segoe UI"/>
              </a:rPr>
              <a:t>Topics include population growth, dengue, clean energy, online scams, AI, climate change and inflation.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75759" y="3276600"/>
            <a:ext cx="3230879" cy="1371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12919" y="3413760"/>
            <a:ext cx="38099" cy="1097280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59" y="3429000"/>
            <a:ext cx="277367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8202B"/>
                </a:solidFill>
                <a:latin typeface="Segoe UI"/>
              </a:rPr>
              <a:t>Karangan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59" y="3657600"/>
            <a:ext cx="2788919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19" b="0">
                <a:solidFill>
                  <a:srgbClr val="667085"/>
                </a:solidFill>
                <a:latin typeface="Segoe UI"/>
              </a:rPr>
              <a:t>297 vocab/synonym items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59" y="3977639"/>
            <a:ext cx="2697479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9" b="0">
                <a:solidFill>
                  <a:srgbClr val="667085"/>
                </a:solidFill>
                <a:latin typeface="Segoe UI"/>
              </a:rPr>
              <a:t>Examples: alam -&gt; lingkungan; ancaman -&gt; bahaya; berkelanjutan -&gt; berkesinambungan.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399" y="3276600"/>
            <a:ext cx="3733799" cy="1371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909559" y="3413760"/>
            <a:ext cx="38099" cy="1097280"/>
          </a:xfrm>
          <a:prstGeom prst="roundRect">
            <a:avLst/>
          </a:prstGeom>
          <a:solidFill>
            <a:srgbClr val="C88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77199" y="3429000"/>
            <a:ext cx="327659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8202B"/>
                </a:solidFill>
                <a:latin typeface="Segoe UI"/>
              </a:rPr>
              <a:t>Surat resmi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77199" y="3657600"/>
            <a:ext cx="3291839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19" b="0">
                <a:solidFill>
                  <a:srgbClr val="667085"/>
                </a:solidFill>
                <a:latin typeface="Segoe UI"/>
              </a:rPr>
              <a:t>8 guide sections + 10 contextual examples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77199" y="3977639"/>
            <a:ext cx="3200399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9" b="0">
                <a:solidFill>
                  <a:srgbClr val="667085"/>
                </a:solidFill>
                <a:latin typeface="Segoe UI"/>
              </a:rPr>
              <a:t>Examples include complaint, permission request, funding request, speaker invitation, job application and apology.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9119" y="5135880"/>
            <a:ext cx="10927079" cy="761999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16279" y="5273040"/>
            <a:ext cx="38099" cy="487680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919" y="5288280"/>
            <a:ext cx="1046987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8202B"/>
                </a:solidFill>
                <a:latin typeface="Segoe UI"/>
              </a:rPr>
              <a:t>How this should be described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919" y="5516880"/>
            <a:ext cx="10485119" cy="259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19" b="0">
                <a:solidFill>
                  <a:srgbClr val="667085"/>
                </a:solidFill>
                <a:latin typeface="Segoe UI"/>
              </a:rPr>
              <a:t>Questions are not all from one source: the app weaves online/collected material, Quizlet-style flashcards and LLM-generated practice expansions into modules.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