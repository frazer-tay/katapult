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Practice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 dirty="0">
                <a:solidFill>
                  <a:srgbClr val="7FAE2D"/>
                </a:solidFill>
                <a:latin typeface="Segoe UI"/>
              </a:rPr>
              <a:t>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6692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 err="1">
                <a:solidFill>
                  <a:srgbClr val="18202B"/>
                </a:solidFill>
                <a:latin typeface="Bahnschrift"/>
              </a:rPr>
              <a:t>KataPult</a:t>
            </a:r>
            <a:r>
              <a:rPr sz="3400" b="0" dirty="0">
                <a:solidFill>
                  <a:srgbClr val="18202B"/>
                </a:solidFill>
                <a:latin typeface="Bahnschrift"/>
              </a:rPr>
              <a:t>: Bahasa Indo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Practice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A working prototype for short, structured Bahasa Indo revision.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9903" y="1078992"/>
            <a:ext cx="5486400" cy="4297680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35040" y="1005840"/>
            <a:ext cx="54864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35040" y="1005840"/>
            <a:ext cx="54864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9631" y="1115568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82512" y="1115568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65392" y="1115568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1887855"/>
            <a:ext cx="5285232" cy="28628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6" y="5650992"/>
            <a:ext cx="10917936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5897880"/>
            <a:ext cx="987552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Bahasa Indo learning materials </a:t>
            </a:r>
            <a:r>
              <a:rPr sz="1300" b="1" dirty="0" err="1">
                <a:solidFill>
                  <a:srgbClr val="18202B"/>
                </a:solidFill>
                <a:latin typeface="Segoe UI"/>
              </a:rPr>
              <a:t>centralised</a:t>
            </a:r>
            <a:r>
              <a:rPr sz="1300" b="1" dirty="0">
                <a:solidFill>
                  <a:srgbClr val="18202B"/>
                </a:solidFill>
                <a:latin typeface="Segoe UI"/>
              </a:rPr>
              <a:t> into one practice companion.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305452" cy="1536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The hard part was not finding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content. It was </a:t>
            </a:r>
            <a:r>
              <a:rPr lang="en-SG" sz="3400" dirty="0">
                <a:solidFill>
                  <a:srgbClr val="18202B"/>
                </a:solidFill>
                <a:latin typeface="Bahnschrift"/>
              </a:rPr>
              <a:t>gathering relevant materials for practice.</a:t>
            </a:r>
            <a:endParaRPr sz="3400" b="0" dirty="0">
              <a:solidFill>
                <a:srgbClr val="18202B"/>
              </a:solidFill>
              <a:latin typeface="Bahnschrif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649224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Learners had notes, screenshots, online references, recall packs and generated practice material, but no c</a:t>
            </a:r>
            <a:r>
              <a:rPr lang="en-SG" sz="1300" b="0" dirty="0" err="1">
                <a:solidFill>
                  <a:srgbClr val="667085"/>
                </a:solidFill>
                <a:latin typeface="Segoe UI"/>
              </a:rPr>
              <a:t>entralised</a:t>
            </a:r>
            <a:r>
              <a:rPr sz="1300" b="0" dirty="0">
                <a:solidFill>
                  <a:srgbClr val="667085"/>
                </a:solidFill>
                <a:latin typeface="Segoe UI"/>
              </a:rPr>
              <a:t> place to </a:t>
            </a:r>
            <a:r>
              <a:rPr lang="en-SG" sz="1300" b="0" dirty="0">
                <a:solidFill>
                  <a:srgbClr val="667085"/>
                </a:solidFill>
                <a:latin typeface="Segoe UI"/>
              </a:rPr>
              <a:t>learn in bite-sized manner</a:t>
            </a:r>
            <a:r>
              <a:rPr sz="1300" b="0" dirty="0">
                <a:solidFill>
                  <a:srgbClr val="667085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4279392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" y="4425696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4443983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Weak areas were hard to 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718304"/>
            <a:ext cx="4800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Imbuhan, persamaan and formal writing need repeated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5065776"/>
            <a:ext cx="521208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5212080"/>
            <a:ext cx="36576" cy="329184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5230368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Progress was hard to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504688"/>
            <a:ext cx="4800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Attempts</a:t>
            </a:r>
            <a:r>
              <a:rPr lang="en-SG" sz="950" b="0" dirty="0">
                <a:solidFill>
                  <a:srgbClr val="667085"/>
                </a:solidFill>
                <a:latin typeface="Segoe UI"/>
              </a:rPr>
              <a:t> and</a:t>
            </a:r>
            <a:r>
              <a:rPr sz="950" b="0" dirty="0">
                <a:solidFill>
                  <a:srgbClr val="667085"/>
                </a:solidFill>
                <a:latin typeface="Segoe UI"/>
              </a:rPr>
              <a:t> mistakes were not easy to track.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335024"/>
            <a:ext cx="4096512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96912" y="15910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Scattered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90195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</a:t>
            </a:r>
            <a:r>
              <a:rPr lang="en-SG" sz="950" b="0" dirty="0">
                <a:solidFill>
                  <a:srgbClr val="667085"/>
                </a:solidFill>
                <a:latin typeface="Segoe UI"/>
              </a:rPr>
              <a:t>Study </a:t>
            </a:r>
            <a:r>
              <a:rPr sz="950" b="0" dirty="0">
                <a:solidFill>
                  <a:srgbClr val="667085"/>
                </a:solidFill>
                <a:latin typeface="Segoe UI"/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08483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• Screenshots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26771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Online references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450827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 dirty="0">
                <a:solidFill>
                  <a:srgbClr val="667085"/>
                </a:solidFill>
                <a:latin typeface="Segoe UI"/>
              </a:rPr>
              <a:t>• Generated practice material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0" y="2907792"/>
            <a:ext cx="0" cy="493776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86600" y="3493008"/>
            <a:ext cx="4096512" cy="585216"/>
          </a:xfrm>
          <a:prstGeom prst="roundRect">
            <a:avLst/>
          </a:prstGeom>
          <a:solidFill>
            <a:srgbClr val="F9F8F4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3749039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 dirty="0">
                <a:solidFill>
                  <a:srgbClr val="18202B"/>
                </a:solidFill>
                <a:latin typeface="Segoe UI"/>
              </a:rPr>
              <a:t>"Where do I </a:t>
            </a:r>
            <a:r>
              <a:rPr lang="en-SG" sz="1300" b="1" dirty="0">
                <a:solidFill>
                  <a:srgbClr val="18202B"/>
                </a:solidFill>
                <a:latin typeface="Segoe UI"/>
              </a:rPr>
              <a:t>start</a:t>
            </a:r>
            <a:r>
              <a:rPr sz="1300" b="1" dirty="0">
                <a:solidFill>
                  <a:srgbClr val="18202B"/>
                </a:solidFill>
                <a:latin typeface="Segoe UI"/>
              </a:rPr>
              <a:t>?"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4133087"/>
            <a:ext cx="0" cy="484633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86600" y="4709160"/>
            <a:ext cx="4096512" cy="585216"/>
          </a:xfrm>
          <a:prstGeom prst="roundRect">
            <a:avLst/>
          </a:prstGeom>
          <a:solidFill>
            <a:srgbClr val="ECE8D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495604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Too much setup before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What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WHAT KATAPULT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5836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Scattered materials become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short practice 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KataPult centralises relevant learning materials in one place, then routes them into drills, tests, answer feedback and writing-support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38728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639312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Online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22776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06824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407408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Recall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2606040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91456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Generated practice 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041648"/>
            <a:ext cx="82296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9392" y="3611880"/>
            <a:ext cx="30632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8092" y="386971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 dirty="0" err="1">
                <a:solidFill>
                  <a:srgbClr val="7FAE2D"/>
                </a:solidFill>
                <a:latin typeface="Segoe UI"/>
              </a:rPr>
              <a:t>KataPult</a:t>
            </a:r>
            <a:endParaRPr sz="170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74920" y="4151376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organises content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43800" y="4041648"/>
            <a:ext cx="731520" cy="0"/>
          </a:xfrm>
          <a:prstGeom prst="line">
            <a:avLst/>
          </a:prstGeom>
          <a:ln w="3175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67344" y="3154680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22792" y="3255264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67344" y="3538728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2792" y="3639312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Component drills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67344" y="3922776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22792" y="4023360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Custom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4306824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22792" y="4407408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Answer feedback and explanations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4690872"/>
            <a:ext cx="2880360" cy="292608"/>
          </a:xfrm>
          <a:prstGeom prst="roundRect">
            <a:avLst/>
          </a:prstGeom>
          <a:solidFill>
            <a:srgbClr val="EEF6E8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22792" y="4791456"/>
            <a:ext cx="251460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Writing guides and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Product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7FAE2D"/>
                </a:solidFill>
                <a:latin typeface="Segoe UI"/>
              </a:rPr>
              <a:t>PRACTICE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39496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A simple loop keeps</a:t>
            </a:r>
            <a:br>
              <a:rPr dirty="0"/>
            </a:br>
            <a:r>
              <a:rPr sz="3400" b="0" dirty="0">
                <a:solidFill>
                  <a:srgbClr val="18202B"/>
                </a:solidFill>
                <a:latin typeface="Bahnschrift"/>
              </a:rPr>
              <a:t>practice </a:t>
            </a:r>
            <a:r>
              <a:rPr lang="en-SG" sz="3400" b="0" dirty="0">
                <a:solidFill>
                  <a:srgbClr val="18202B"/>
                </a:solidFill>
                <a:latin typeface="Bahnschrift"/>
              </a:rPr>
              <a:t>accessible</a:t>
            </a:r>
            <a:r>
              <a:rPr sz="3400" b="0" dirty="0">
                <a:solidFill>
                  <a:srgbClr val="18202B"/>
                </a:solidFill>
                <a:latin typeface="Bahnschrift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667085"/>
                </a:solidFill>
                <a:latin typeface="Segoe UI"/>
              </a:rPr>
              <a:t>Learners can pick a module, practise briefly, see right-or-wrong feedback with an AI-assisted explanation, then return through daily challenge, XP or streaks.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Pick a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Start with the area that needs work.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84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18104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Practise briefly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8104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a daily challenge or focused test.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72384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2352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76672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Get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Feedback plus AI explanation.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5240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Review mistakes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Repeat missed items or continue.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19488" y="5367528"/>
            <a:ext cx="1874519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TextBox 50"/>
          <p:cNvSpPr txBox="1"/>
          <p:nvPr/>
        </p:nvSpPr>
        <p:spPr>
          <a:xfrm>
            <a:off x="9893808" y="5532120"/>
            <a:ext cx="1463039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Return later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8" y="5806439"/>
            <a:ext cx="1463039" cy="60350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Use daily challenge, XP or streaks.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8088" y="5632704"/>
            <a:ext cx="73152" cy="73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44768" y="896112"/>
            <a:ext cx="5376672" cy="310896"/>
          </a:xfrm>
          <a:prstGeom prst="round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09359" y="100584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92240" y="10058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675120" y="100584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04-imbuhan-real-explanation-focused.png"/>
          <p:cNvPicPr>
            <a:picLocks noChangeAspect="1"/>
          </p:cNvPicPr>
          <p:nvPr/>
        </p:nvPicPr>
        <p:blipFill>
          <a:blip r:embed="rId2"/>
          <a:srcRect l="13224" r="17209"/>
          <a:stretch>
            <a:fillRect/>
          </a:stretch>
        </p:blipFill>
        <p:spPr>
          <a:xfrm>
            <a:off x="6976871" y="1316736"/>
            <a:ext cx="3511375" cy="39319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535F7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SG" sz="850" b="0" dirty="0">
                <a:solidFill>
                  <a:srgbClr val="8A927D"/>
                </a:solidFill>
                <a:latin typeface="Segoe UI"/>
              </a:rPr>
              <a:t>Component</a:t>
            </a:r>
            <a:r>
              <a:rPr sz="850" b="0" dirty="0">
                <a:solidFill>
                  <a:srgbClr val="8A927D"/>
                </a:solidFill>
                <a:latin typeface="Segoe UI"/>
              </a:rPr>
              <a:t>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SG" sz="850" b="1" dirty="0">
                <a:solidFill>
                  <a:srgbClr val="7FAE2D"/>
                </a:solidFill>
                <a:latin typeface="Segoe UI"/>
              </a:rPr>
              <a:t>COMPONENT SUMMARY</a:t>
            </a:r>
            <a:endParaRPr sz="85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40080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Each component has a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specific learning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The app separates browsing, typed practice, recall, writing guides and focused tests so learners do not revise from one giant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2945224"/>
            <a:ext cx="6473952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318664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18664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 dirty="0">
                <a:solidFill>
                  <a:srgbClr val="667085"/>
                </a:solidFill>
                <a:latin typeface="Segoe UI"/>
              </a:rPr>
              <a:t>Meanings, examples and translations for core word building.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51583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351583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Affix practice: apply prefixes, suffixes and word-form rules correctly.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3451822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" y="3845014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MCQ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845014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Synonym recognition through sentence-context questions.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" y="3781006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417419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Persamaan Latihan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417419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Typed synonym practice with immediate feedback.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2" y="4110190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" y="4503382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4503382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Essay vocabulary, phrase banks and definitions for composition writing.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" y="4439374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6384" y="4832566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Essay Recall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832566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Fast recall of openings, conclusions, examples and useful essay phrases.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768557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" y="5161750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Surat Resmi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5161750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Formal letter structure, tone, standard phrases and sample responses.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5097742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" y="5490934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Custom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5490934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Configurable drills for focused revision on selected components.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" y="5426926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" y="5820118"/>
            <a:ext cx="169164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60" b="1">
                <a:solidFill>
                  <a:srgbClr val="18202B"/>
                </a:solidFill>
                <a:latin typeface="Segoe UI"/>
              </a:rPr>
              <a:t>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5820118"/>
            <a:ext cx="393192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40" b="0">
                <a:solidFill>
                  <a:srgbClr val="667085"/>
                </a:solidFill>
                <a:latin typeface="Segoe UI"/>
              </a:rPr>
              <a:t>Streaks, XP and levels that make return practice visible.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8952" y="5756109"/>
            <a:ext cx="6099048" cy="0"/>
          </a:xfrm>
          <a:prstGeom prst="line">
            <a:avLst/>
          </a:prstGeom>
          <a:ln w="508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62672" y="1975104"/>
            <a:ext cx="3913632" cy="3877056"/>
          </a:xfrm>
          <a:prstGeom prst="round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607808" y="1901952"/>
            <a:ext cx="3913632" cy="38770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607808" y="1901952"/>
            <a:ext cx="3913632" cy="310896"/>
          </a:xfrm>
          <a:prstGeom prst="round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772400" y="201168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955279" y="20116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138160" y="201168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5-essay-recall-foc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322576"/>
            <a:ext cx="3584448" cy="3310128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772400" y="5596128"/>
            <a:ext cx="3566160" cy="292608"/>
          </a:xfrm>
          <a:prstGeom prst="roundRect">
            <a:avLst/>
          </a:prstGeom>
          <a:solidFill>
            <a:srgbClr val="EEF6E8"/>
          </a:solidFill>
          <a:ln w="6350">
            <a:solidFill>
              <a:srgbClr val="C6D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0416" y="5682996"/>
            <a:ext cx="3310128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18202B"/>
                </a:solidFill>
                <a:latin typeface="Segoe UI"/>
              </a:rPr>
              <a:t>Essay recall packs show reusable phrases and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566928"/>
            <a:ext cx="11091672" cy="0"/>
          </a:xfrm>
          <a:prstGeom prst="line">
            <a:avLst/>
          </a:prstGeom>
          <a:ln w="9525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29260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A927D"/>
                </a:solidFill>
                <a:latin typeface="Segoe UI"/>
              </a:rPr>
              <a:t>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84864" y="292608"/>
            <a:ext cx="164592" cy="1828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50" b="1" dirty="0">
                <a:solidFill>
                  <a:srgbClr val="7FAE2D"/>
                </a:solidFill>
                <a:latin typeface="Segoe UI"/>
              </a:rPr>
              <a:t>CURRENT </a:t>
            </a:r>
            <a:r>
              <a:rPr lang="en-SG" sz="850" b="1" dirty="0">
                <a:solidFill>
                  <a:srgbClr val="7FAE2D"/>
                </a:solidFill>
                <a:latin typeface="Segoe UI"/>
              </a:rPr>
              <a:t>PROGRESS &amp; FUTURE PLANS</a:t>
            </a:r>
            <a:endParaRPr sz="850" b="1" dirty="0">
              <a:solidFill>
                <a:srgbClr val="7FAE2D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 dirty="0">
                <a:solidFill>
                  <a:srgbClr val="18202B"/>
                </a:solidFill>
                <a:latin typeface="Bahnschrift"/>
              </a:rPr>
              <a:t>Current state: trialling with users and collecting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dirty="0">
                <a:solidFill>
                  <a:srgbClr val="667085"/>
                </a:solidFill>
                <a:latin typeface="Segoe UI"/>
              </a:rPr>
              <a:t>The current numbers show content coverage and early informal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3154680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3291840"/>
            <a:ext cx="26426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7FAE2D"/>
                </a:solidFill>
                <a:latin typeface="Bahnschrift"/>
              </a:rPr>
              <a:t>1,554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21608"/>
            <a:ext cx="2642616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18202B"/>
                </a:solidFill>
                <a:latin typeface="Segoe UI"/>
              </a:rPr>
              <a:t>active drill-ready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959352"/>
            <a:ext cx="264261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Vocabulary, imbuhan and persamaan question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5493" y="3160698"/>
            <a:ext cx="29718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40085" y="3247449"/>
            <a:ext cx="2642616" cy="3474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200" b="0">
                <a:solidFill>
                  <a:srgbClr val="C88A2C"/>
                </a:solidFill>
                <a:latin typeface="Bahnschrift"/>
              </a:rPr>
              <a:t>10++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0085" y="3677217"/>
            <a:ext cx="2642616" cy="2011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 dirty="0">
                <a:solidFill>
                  <a:srgbClr val="18202B"/>
                </a:solidFill>
                <a:latin typeface="Segoe UI"/>
              </a:rPr>
              <a:t>early informal trial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0085" y="3914961"/>
            <a:ext cx="2642616" cy="2560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60" b="0">
                <a:solidFill>
                  <a:srgbClr val="667085"/>
                </a:solidFill>
                <a:latin typeface="Segoe UI"/>
              </a:rPr>
              <a:t>Enough early use to keep improving.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1816" y="1792224"/>
            <a:ext cx="3886200" cy="2999232"/>
          </a:xfrm>
          <a:prstGeom prst="roundRect">
            <a:avLst/>
          </a:prstGeom>
          <a:solidFill>
            <a:srgbClr val="EC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16952" y="1719072"/>
            <a:ext cx="3886200" cy="2999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16952" y="1719072"/>
            <a:ext cx="3886200" cy="310896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81544" y="1828800"/>
            <a:ext cx="91440" cy="91440"/>
          </a:xfrm>
          <a:prstGeom prst="roundRect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64424" y="1828800"/>
            <a:ext cx="91440" cy="91440"/>
          </a:xfrm>
          <a:prstGeom prst="roundRect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47304" y="1828800"/>
            <a:ext cx="91440" cy="91440"/>
          </a:xfrm>
          <a:prstGeom prst="roundRect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6" y="2385250"/>
            <a:ext cx="3685032" cy="1996059"/>
          </a:xfrm>
          <a:prstGeom prst="rect">
            <a:avLst/>
          </a:prstGeom>
        </p:spPr>
      </p:pic>
      <p:sp>
        <p:nvSpPr>
          <p:cNvPr id="34" name="Rounded Rectangle 8"/>
          <p:cNvSpPr/>
          <p:nvPr/>
        </p:nvSpPr>
        <p:spPr>
          <a:xfrm>
            <a:off x="53050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9"/>
          <p:cNvSpPr/>
          <p:nvPr/>
        </p:nvSpPr>
        <p:spPr>
          <a:xfrm>
            <a:off x="640237" y="5162682"/>
            <a:ext cx="36576" cy="950976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829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Content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829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Review collected items and AI-assisted explanations before treating them as validated material.</a:t>
            </a:r>
          </a:p>
        </p:txBody>
      </p:sp>
      <p:sp>
        <p:nvSpPr>
          <p:cNvPr id="38" name="Rounded Rectangle 12"/>
          <p:cNvSpPr/>
          <p:nvPr/>
        </p:nvSpPr>
        <p:spPr>
          <a:xfrm>
            <a:off x="423382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3"/>
          <p:cNvSpPr/>
          <p:nvPr/>
        </p:nvSpPr>
        <p:spPr>
          <a:xfrm>
            <a:off x="4343557" y="5162682"/>
            <a:ext cx="36576" cy="950976"/>
          </a:xfrm>
          <a:prstGeom prst="roundRect">
            <a:avLst/>
          </a:prstGeom>
          <a:solidFill>
            <a:srgbClr val="1F6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8148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User feedback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8148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Collect what learners find useful, confusing or missing during real use.</a:t>
            </a:r>
          </a:p>
        </p:txBody>
      </p:sp>
      <p:sp>
        <p:nvSpPr>
          <p:cNvPr id="42" name="Rounded Rectangle 16"/>
          <p:cNvSpPr/>
          <p:nvPr/>
        </p:nvSpPr>
        <p:spPr>
          <a:xfrm>
            <a:off x="7937149" y="5016378"/>
            <a:ext cx="3236976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7"/>
          <p:cNvSpPr/>
          <p:nvPr/>
        </p:nvSpPr>
        <p:spPr>
          <a:xfrm>
            <a:off x="8046876" y="5162682"/>
            <a:ext cx="36576" cy="950976"/>
          </a:xfrm>
          <a:prstGeom prst="roundRect">
            <a:avLst/>
          </a:prstGeom>
          <a:solidFill>
            <a:srgbClr val="C8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1469" y="5180970"/>
            <a:ext cx="2825496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8202B"/>
                </a:solidFill>
                <a:latin typeface="Segoe UI"/>
              </a:rPr>
              <a:t>Iterative refinement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469" y="5455290"/>
            <a:ext cx="2825496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Use learner feedback and usage patterns to improve the most-used modules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546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Bahnschrift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Frazer Tay</dc:creator>
  <cp:keywords/>
  <dc:description>generated using python-pptx</dc:description>
  <cp:lastModifiedBy>TAY CHUN ARN (MINDEF)</cp:lastModifiedBy>
  <cp:revision>3</cp:revision>
  <dcterms:created xsi:type="dcterms:W3CDTF">2013-01-27T09:14:16Z</dcterms:created>
  <dcterms:modified xsi:type="dcterms:W3CDTF">2026-05-06T14:03:14Z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2e6ea9-9cb8-4ed1-a301-1de5a8b79906_Enabled">
    <vt:lpwstr>true</vt:lpwstr>
  </property>
  <property fmtid="{D5CDD505-2E9C-101B-9397-08002B2CF9AE}" pid="3" name="MSIP_Label_2e2e6ea9-9cb8-4ed1-a301-1de5a8b79906_SetDate">
    <vt:lpwstr>2026-05-06T13:31:39Z</vt:lpwstr>
  </property>
  <property fmtid="{D5CDD505-2E9C-101B-9397-08002B2CF9AE}" pid="4" name="MSIP_Label_2e2e6ea9-9cb8-4ed1-a301-1de5a8b79906_Method">
    <vt:lpwstr>Standard</vt:lpwstr>
  </property>
  <property fmtid="{D5CDD505-2E9C-101B-9397-08002B2CF9AE}" pid="5" name="MSIP_Label_2e2e6ea9-9cb8-4ed1-a301-1de5a8b79906_Name">
    <vt:lpwstr>Restricted Non-Sensitive</vt:lpwstr>
  </property>
  <property fmtid="{D5CDD505-2E9C-101B-9397-08002B2CF9AE}" pid="6" name="MSIP_Label_2e2e6ea9-9cb8-4ed1-a301-1de5a8b79906_SiteId">
    <vt:lpwstr>17558ced-9068-439c-bdf1-fe9f9e07f45e</vt:lpwstr>
  </property>
  <property fmtid="{D5CDD505-2E9C-101B-9397-08002B2CF9AE}" pid="7" name="MSIP_Label_2e2e6ea9-9cb8-4ed1-a301-1de5a8b79906_ActionId">
    <vt:lpwstr>6051da7b-21cf-4470-9dcb-f98372c3e3bf</vt:lpwstr>
  </property>
  <property fmtid="{D5CDD505-2E9C-101B-9397-08002B2CF9AE}" pid="8" name="MSIP_Label_2e2e6ea9-9cb8-4ed1-a301-1de5a8b79906_ContentBits">
    <vt:lpwstr>0</vt:lpwstr>
  </property>
  <property fmtid="{D5CDD505-2E9C-101B-9397-08002B2CF9AE}" pid="9" name="MSIP_Label_2e2e6ea9-9cb8-4ed1-a301-1de5a8b79906_Tag">
    <vt:lpwstr>10, 3, 0, 1</vt:lpwstr>
  </property>
</Properties>
</file>