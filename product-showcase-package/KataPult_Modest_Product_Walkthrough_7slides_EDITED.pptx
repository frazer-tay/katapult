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A927D"/>
                </a:solidFill>
                <a:latin typeface="Segoe UI"/>
              </a:rPr>
              <a:t>Practice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566928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 dirty="0">
                <a:solidFill>
                  <a:srgbClr val="7FAE2D"/>
                </a:solidFill>
                <a:latin typeface="Segoe UI"/>
              </a:rPr>
              <a:t>WORKING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5669280" cy="10241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 dirty="0" err="1">
                <a:solidFill>
                  <a:srgbClr val="18202B"/>
                </a:solidFill>
                <a:latin typeface="Bahnschrift"/>
              </a:rPr>
              <a:t>KataPult</a:t>
            </a:r>
            <a:r>
              <a:rPr sz="3400" b="0" dirty="0">
                <a:solidFill>
                  <a:srgbClr val="18202B"/>
                </a:solidFill>
                <a:latin typeface="Bahnschrift"/>
              </a:rPr>
              <a:t>: Bahasa Indo</a:t>
            </a:r>
            <a:br>
              <a:rPr dirty="0"/>
            </a:br>
            <a:r>
              <a:rPr sz="3400" b="0" dirty="0">
                <a:solidFill>
                  <a:srgbClr val="18202B"/>
                </a:solidFill>
                <a:latin typeface="Bahnschrift"/>
              </a:rPr>
              <a:t>Practice Companion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67085"/>
                </a:solidFill>
                <a:latin typeface="Segoe UI"/>
              </a:rPr>
              <a:t>A working prototype for short, structured Bahasa Indo revision.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9903" y="1078992"/>
            <a:ext cx="5486400" cy="4297680"/>
          </a:xfrm>
          <a:prstGeom prst="roundRect">
            <a:avLst/>
          </a:prstGeom>
          <a:solidFill>
            <a:srgbClr val="EC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35040" y="1005840"/>
            <a:ext cx="548640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0" y="1005840"/>
            <a:ext cx="5486400" cy="310896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99631" y="1115568"/>
            <a:ext cx="91440" cy="91440"/>
          </a:xfrm>
          <a:prstGeom prst="roundRect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82512" y="1115568"/>
            <a:ext cx="91440" cy="91440"/>
          </a:xfrm>
          <a:prstGeom prst="roundRect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65392" y="1115568"/>
            <a:ext cx="91440" cy="91440"/>
          </a:xfrm>
          <a:prstGeom prst="roundRect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624" y="1887855"/>
            <a:ext cx="5285232" cy="286283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85216" y="5650992"/>
            <a:ext cx="10917936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5897880"/>
            <a:ext cx="987552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 dirty="0">
                <a:solidFill>
                  <a:srgbClr val="18202B"/>
                </a:solidFill>
                <a:latin typeface="Segoe UI"/>
              </a:rPr>
              <a:t>Bahasa Indo learning materials </a:t>
            </a:r>
            <a:r>
              <a:rPr sz="1300" b="1" dirty="0" err="1">
                <a:solidFill>
                  <a:srgbClr val="18202B"/>
                </a:solidFill>
                <a:latin typeface="Segoe UI"/>
              </a:rPr>
              <a:t>centralised</a:t>
            </a:r>
            <a:r>
              <a:rPr sz="1300" b="1" dirty="0">
                <a:solidFill>
                  <a:srgbClr val="18202B"/>
                </a:solidFill>
                <a:latin typeface="Segoe UI"/>
              </a:rPr>
              <a:t> into one practice companion.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A927D"/>
                </a:solidFill>
                <a:latin typeface="Segoe U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649224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7FAE2D"/>
                </a:solidFill>
                <a:latin typeface="Segoe UI"/>
              </a:rPr>
              <a:t>PREPARATION REALITY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6305452" cy="15361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 dirty="0">
                <a:solidFill>
                  <a:srgbClr val="18202B"/>
                </a:solidFill>
                <a:latin typeface="Bahnschrift"/>
              </a:rPr>
              <a:t>The hard part was not finding</a:t>
            </a:r>
            <a:br>
              <a:rPr dirty="0"/>
            </a:br>
            <a:r>
              <a:rPr sz="3400" b="0" dirty="0">
                <a:solidFill>
                  <a:srgbClr val="18202B"/>
                </a:solidFill>
                <a:latin typeface="Bahnschrift"/>
              </a:rPr>
              <a:t>content. It was </a:t>
            </a:r>
            <a:r>
              <a:rPr lang="en-SG" sz="3400" dirty="0">
                <a:solidFill>
                  <a:srgbClr val="18202B"/>
                </a:solidFill>
                <a:latin typeface="Bahnschrift"/>
              </a:rPr>
              <a:t>gathering relevant materials for practice.</a:t>
            </a:r>
            <a:endParaRPr sz="3400" b="0" dirty="0">
              <a:solidFill>
                <a:srgbClr val="18202B"/>
              </a:solidFill>
              <a:latin typeface="Bahnschrif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907792"/>
            <a:ext cx="6492240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dirty="0">
                <a:solidFill>
                  <a:srgbClr val="667085"/>
                </a:solidFill>
                <a:latin typeface="Segoe UI"/>
              </a:rPr>
              <a:t>Learners had notes, screenshots, online references, recall packs and generated practice material, but no c</a:t>
            </a:r>
            <a:r>
              <a:rPr lang="en-SG" sz="1300" b="0" dirty="0" err="1">
                <a:solidFill>
                  <a:srgbClr val="667085"/>
                </a:solidFill>
                <a:latin typeface="Segoe UI"/>
              </a:rPr>
              <a:t>entralised</a:t>
            </a:r>
            <a:r>
              <a:rPr sz="1300" b="0" dirty="0">
                <a:solidFill>
                  <a:srgbClr val="667085"/>
                </a:solidFill>
                <a:latin typeface="Segoe UI"/>
              </a:rPr>
              <a:t> place to </a:t>
            </a:r>
            <a:r>
              <a:rPr lang="en-SG" sz="1300" b="0" dirty="0">
                <a:solidFill>
                  <a:srgbClr val="667085"/>
                </a:solidFill>
                <a:latin typeface="Segoe UI"/>
              </a:rPr>
              <a:t>learn in bite-sized manner</a:t>
            </a:r>
            <a:r>
              <a:rPr sz="1300" b="0" dirty="0">
                <a:solidFill>
                  <a:srgbClr val="667085"/>
                </a:solidFill>
                <a:latin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4279392"/>
            <a:ext cx="521208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4944" y="4425696"/>
            <a:ext cx="36576" cy="329184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4443983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 dirty="0">
                <a:solidFill>
                  <a:srgbClr val="18202B"/>
                </a:solidFill>
                <a:latin typeface="Segoe UI"/>
              </a:rPr>
              <a:t>Weak areas were hard to isolate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718304"/>
            <a:ext cx="480060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Imbuhan, persamaan and formal writing need repeated practice.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5065776"/>
            <a:ext cx="521208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94944" y="5212080"/>
            <a:ext cx="36576" cy="329184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5230368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Progress was hard to see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5504688"/>
            <a:ext cx="480060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 dirty="0">
                <a:solidFill>
                  <a:srgbClr val="667085"/>
                </a:solidFill>
                <a:latin typeface="Segoe UI"/>
              </a:rPr>
              <a:t>Attempts</a:t>
            </a:r>
            <a:r>
              <a:rPr lang="en-SG" sz="950" b="0" dirty="0">
                <a:solidFill>
                  <a:srgbClr val="667085"/>
                </a:solidFill>
                <a:latin typeface="Segoe UI"/>
              </a:rPr>
              <a:t> and</a:t>
            </a:r>
            <a:r>
              <a:rPr sz="950" b="0" dirty="0">
                <a:solidFill>
                  <a:srgbClr val="667085"/>
                </a:solidFill>
                <a:latin typeface="Segoe UI"/>
              </a:rPr>
              <a:t> mistakes were not easy to track.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1335024"/>
            <a:ext cx="4096512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96912" y="1591056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Scattered inputs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1504" y="1901952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 dirty="0">
                <a:solidFill>
                  <a:srgbClr val="667085"/>
                </a:solidFill>
                <a:latin typeface="Segoe UI"/>
              </a:rPr>
              <a:t>• </a:t>
            </a:r>
            <a:r>
              <a:rPr lang="en-SG" sz="950" b="0" dirty="0">
                <a:solidFill>
                  <a:srgbClr val="667085"/>
                </a:solidFill>
                <a:latin typeface="Segoe UI"/>
              </a:rPr>
              <a:t>Study </a:t>
            </a:r>
            <a:r>
              <a:rPr sz="950" b="0" dirty="0">
                <a:solidFill>
                  <a:srgbClr val="667085"/>
                </a:solidFill>
                <a:latin typeface="Segoe UI"/>
              </a:rPr>
              <a:t>Notes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2084832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• Screenshots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1504" y="2267712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 dirty="0">
                <a:solidFill>
                  <a:srgbClr val="667085"/>
                </a:solidFill>
                <a:latin typeface="Segoe UI"/>
              </a:rPr>
              <a:t>• Online references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2450827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 dirty="0">
                <a:solidFill>
                  <a:srgbClr val="667085"/>
                </a:solidFill>
                <a:latin typeface="Segoe UI"/>
              </a:rPr>
              <a:t>• Generated practice material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0" y="2907792"/>
            <a:ext cx="0" cy="493776"/>
          </a:xfrm>
          <a:prstGeom prst="line">
            <a:avLst/>
          </a:prstGeom>
          <a:ln w="3175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086600" y="3493008"/>
            <a:ext cx="4096512" cy="585216"/>
          </a:xfrm>
          <a:prstGeom prst="roundRect">
            <a:avLst/>
          </a:prstGeom>
          <a:solidFill>
            <a:srgbClr val="F9F8F4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38160" y="3749039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dirty="0">
                <a:solidFill>
                  <a:srgbClr val="18202B"/>
                </a:solidFill>
                <a:latin typeface="Segoe UI"/>
              </a:rPr>
              <a:t>"Where do I </a:t>
            </a:r>
            <a:r>
              <a:rPr lang="en-SG" sz="1300" b="1" dirty="0">
                <a:solidFill>
                  <a:srgbClr val="18202B"/>
                </a:solidFill>
                <a:latin typeface="Segoe UI"/>
              </a:rPr>
              <a:t>start</a:t>
            </a:r>
            <a:r>
              <a:rPr sz="1300" b="1" dirty="0">
                <a:solidFill>
                  <a:srgbClr val="18202B"/>
                </a:solidFill>
                <a:latin typeface="Segoe UI"/>
              </a:rPr>
              <a:t>?"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0" y="4133087"/>
            <a:ext cx="0" cy="484633"/>
          </a:xfrm>
          <a:prstGeom prst="line">
            <a:avLst/>
          </a:prstGeom>
          <a:ln w="3175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086600" y="4709160"/>
            <a:ext cx="4096512" cy="585216"/>
          </a:xfrm>
          <a:prstGeom prst="roundRect">
            <a:avLst/>
          </a:prstGeom>
          <a:solidFill>
            <a:srgbClr val="ECE8D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09560" y="4956048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Too much setup before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A927D"/>
                </a:solidFill>
                <a:latin typeface="Segoe UI"/>
              </a:rPr>
              <a:t>What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658368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7FAE2D"/>
                </a:solidFill>
                <a:latin typeface="Segoe UI"/>
              </a:rPr>
              <a:t>WHAT KATAPULT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6583680" cy="10241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Scattered materials become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short practice flows.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6583680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67085"/>
                </a:solidFill>
                <a:latin typeface="Segoe UI"/>
              </a:rPr>
              <a:t>KataPult centralises relevant learning materials in one place, then routes them into drills, tests, feedback and writing-support 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154680"/>
            <a:ext cx="260604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255264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Notes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538728"/>
            <a:ext cx="260604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3639312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Online references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922776"/>
            <a:ext cx="260604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4023360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Screenshots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306824"/>
            <a:ext cx="260604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4407408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Recall packs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690872"/>
            <a:ext cx="260604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791456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Generated practice material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37560" y="4041648"/>
            <a:ext cx="822960" cy="0"/>
          </a:xfrm>
          <a:prstGeom prst="line">
            <a:avLst/>
          </a:prstGeom>
          <a:ln w="3175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279392" y="3611880"/>
            <a:ext cx="306324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8092" y="3869710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 dirty="0" err="1">
                <a:solidFill>
                  <a:srgbClr val="7FAE2D"/>
                </a:solidFill>
                <a:latin typeface="Segoe UI"/>
              </a:rPr>
              <a:t>KataPult</a:t>
            </a:r>
            <a:endParaRPr sz="1700" b="1" dirty="0">
              <a:solidFill>
                <a:srgbClr val="7FAE2D"/>
              </a:solidFill>
              <a:latin typeface="Segoe U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74920" y="4151376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8202B"/>
                </a:solidFill>
                <a:latin typeface="Segoe UI"/>
              </a:rPr>
              <a:t>organises content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43800" y="4041648"/>
            <a:ext cx="731520" cy="0"/>
          </a:xfrm>
          <a:prstGeom prst="line">
            <a:avLst/>
          </a:prstGeom>
          <a:ln w="3175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467344" y="3154680"/>
            <a:ext cx="2880360" cy="292608"/>
          </a:xfrm>
          <a:prstGeom prst="roundRect">
            <a:avLst/>
          </a:prstGeom>
          <a:solidFill>
            <a:srgbClr val="EEF6E8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22792" y="3255264"/>
            <a:ext cx="251460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Daily challenge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67344" y="3538728"/>
            <a:ext cx="2880360" cy="292608"/>
          </a:xfrm>
          <a:prstGeom prst="roundRect">
            <a:avLst/>
          </a:prstGeom>
          <a:solidFill>
            <a:srgbClr val="EEF6E8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22792" y="3639312"/>
            <a:ext cx="251460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Component drills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67344" y="3922776"/>
            <a:ext cx="2880360" cy="292608"/>
          </a:xfrm>
          <a:prstGeom prst="roundRect">
            <a:avLst/>
          </a:prstGeom>
          <a:solidFill>
            <a:srgbClr val="EEF6E8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22792" y="4023360"/>
            <a:ext cx="251460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Custom tests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67344" y="4306824"/>
            <a:ext cx="2880360" cy="292608"/>
          </a:xfrm>
          <a:prstGeom prst="roundRect">
            <a:avLst/>
          </a:prstGeom>
          <a:solidFill>
            <a:srgbClr val="EEF6E8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22792" y="4407408"/>
            <a:ext cx="251460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Feedback explanations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67344" y="4690872"/>
            <a:ext cx="2880360" cy="292608"/>
          </a:xfrm>
          <a:prstGeom prst="roundRect">
            <a:avLst/>
          </a:prstGeom>
          <a:solidFill>
            <a:srgbClr val="EEF6E8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22792" y="4791456"/>
            <a:ext cx="251460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Writing guides and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A927D"/>
                </a:solidFill>
                <a:latin typeface="Segoe UI"/>
              </a:rPr>
              <a:t>Product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7FAE2D"/>
                </a:solidFill>
                <a:latin typeface="Segoe UI"/>
              </a:rPr>
              <a:t>PRACTICE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5394960" cy="10241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 dirty="0">
                <a:solidFill>
                  <a:srgbClr val="18202B"/>
                </a:solidFill>
                <a:latin typeface="Bahnschrift"/>
              </a:rPr>
              <a:t>A simple loop keeps</a:t>
            </a:r>
            <a:br>
              <a:rPr dirty="0"/>
            </a:br>
            <a:r>
              <a:rPr sz="3400" b="0" dirty="0">
                <a:solidFill>
                  <a:srgbClr val="18202B"/>
                </a:solidFill>
                <a:latin typeface="Bahnschrift"/>
              </a:rPr>
              <a:t>practice </a:t>
            </a:r>
            <a:r>
              <a:rPr lang="en-SG" sz="3400" b="0" dirty="0">
                <a:solidFill>
                  <a:srgbClr val="18202B"/>
                </a:solidFill>
                <a:latin typeface="Bahnschrift"/>
              </a:rPr>
              <a:t>accessible</a:t>
            </a:r>
            <a:r>
              <a:rPr sz="3400" b="0" dirty="0">
                <a:solidFill>
                  <a:srgbClr val="18202B"/>
                </a:solidFill>
                <a:latin typeface="Bahnschrift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67085"/>
                </a:solidFill>
                <a:latin typeface="Segoe UI"/>
              </a:rPr>
              <a:t>Learners can pick a module, practise briefly, understand the answer and return through daily challenge, XP or streaks.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133856"/>
            <a:ext cx="5349240" cy="2880360"/>
          </a:xfrm>
          <a:prstGeom prst="roundRect">
            <a:avLst/>
          </a:prstGeom>
          <a:solidFill>
            <a:srgbClr val="EC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53912" y="1060704"/>
            <a:ext cx="5349240" cy="2880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53912" y="1060704"/>
            <a:ext cx="5349240" cy="310896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18504" y="1170431"/>
            <a:ext cx="91440" cy="91440"/>
          </a:xfrm>
          <a:prstGeom prst="roundRect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01384" y="1170431"/>
            <a:ext cx="91440" cy="91440"/>
          </a:xfrm>
          <a:prstGeom prst="roundRect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684264" y="1170431"/>
            <a:ext cx="91440" cy="91440"/>
          </a:xfrm>
          <a:prstGeom prst="roundRect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7-daily-challe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125" y="1426464"/>
            <a:ext cx="4574813" cy="247802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163056" y="4069080"/>
            <a:ext cx="155448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72784" y="4215384"/>
            <a:ext cx="36576" cy="91439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37376" y="423367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30" b="1">
                <a:solidFill>
                  <a:srgbClr val="18202B"/>
                </a:solidFill>
                <a:latin typeface="Segoe UI"/>
              </a:rPr>
              <a:t>Start a short drill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0416" y="4069080"/>
            <a:ext cx="155448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010144" y="4215384"/>
            <a:ext cx="36576" cy="91439"/>
          </a:xfrm>
          <a:prstGeom prst="roundRect">
            <a:avLst/>
          </a:prstGeom>
          <a:solidFill>
            <a:srgbClr val="1F6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4736" y="423367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30" b="1">
                <a:solidFill>
                  <a:srgbClr val="18202B"/>
                </a:solidFill>
                <a:latin typeface="Segoe UI"/>
              </a:rPr>
              <a:t>Track progress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37776" y="4069080"/>
            <a:ext cx="155448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747503" y="4215384"/>
            <a:ext cx="36576" cy="91439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12096" y="423367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30" b="1">
                <a:solidFill>
                  <a:srgbClr val="18202B"/>
                </a:solidFill>
                <a:latin typeface="Segoe UI"/>
              </a:rPr>
              <a:t>Understand answers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" y="4617720"/>
            <a:ext cx="1874519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" y="4782312"/>
            <a:ext cx="1463039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Pick a module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056631"/>
            <a:ext cx="1463039" cy="6035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67085"/>
                </a:solidFill>
                <a:latin typeface="Segoe UI"/>
              </a:rPr>
              <a:t>Start with the area that needs work.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43784" y="4617720"/>
            <a:ext cx="1874519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18104" y="4782312"/>
            <a:ext cx="1463039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Practise briefly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18104" y="5056631"/>
            <a:ext cx="1463039" cy="6035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67085"/>
                </a:solidFill>
                <a:latin typeface="Segoe UI"/>
              </a:rPr>
              <a:t>Use a daily challenge or focused test.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72384" y="4882896"/>
            <a:ext cx="73152" cy="731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02352" y="4617720"/>
            <a:ext cx="1874519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76672" y="4782312"/>
            <a:ext cx="1463039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Get feedback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76672" y="5056631"/>
            <a:ext cx="1463039" cy="6035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67085"/>
                </a:solidFill>
                <a:latin typeface="Segoe UI"/>
              </a:rPr>
              <a:t>Right/wrong + LLM explanation.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0952" y="4882896"/>
            <a:ext cx="73152" cy="731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 dirty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60920" y="4617720"/>
            <a:ext cx="1874519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35240" y="4782312"/>
            <a:ext cx="1463039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Review mistakes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5056631"/>
            <a:ext cx="1463039" cy="6035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67085"/>
                </a:solidFill>
                <a:latin typeface="Segoe UI"/>
              </a:rPr>
              <a:t>Repeat missed items or continue.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4882896"/>
            <a:ext cx="73152" cy="731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19488" y="4617720"/>
            <a:ext cx="1874519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1" name="TextBox 50"/>
          <p:cNvSpPr txBox="1"/>
          <p:nvPr/>
        </p:nvSpPr>
        <p:spPr>
          <a:xfrm>
            <a:off x="9893808" y="4782312"/>
            <a:ext cx="1463039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Return later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93808" y="5056631"/>
            <a:ext cx="1463039" cy="6035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67085"/>
                </a:solidFill>
                <a:latin typeface="Segoe UI"/>
              </a:rPr>
              <a:t>Use daily challenge, XP or streaks.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48088" y="4882896"/>
            <a:ext cx="73152" cy="731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SG" sz="850" b="0" dirty="0">
                <a:solidFill>
                  <a:srgbClr val="8A927D"/>
                </a:solidFill>
                <a:latin typeface="Segoe UI"/>
              </a:rPr>
              <a:t>Component</a:t>
            </a:r>
            <a:r>
              <a:rPr sz="850" b="0" dirty="0">
                <a:solidFill>
                  <a:srgbClr val="8A927D"/>
                </a:solidFill>
                <a:latin typeface="Segoe UI"/>
              </a:rPr>
              <a:t>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SG" sz="850" b="1" dirty="0">
                <a:solidFill>
                  <a:srgbClr val="7FAE2D"/>
                </a:solidFill>
                <a:latin typeface="Segoe UI"/>
              </a:rPr>
              <a:t>COMPONENT SUMMARY</a:t>
            </a:r>
            <a:endParaRPr sz="850" b="1" dirty="0">
              <a:solidFill>
                <a:srgbClr val="7FAE2D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6400800" cy="10241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Each component has a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specific learning job.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67085"/>
                </a:solidFill>
                <a:latin typeface="Segoe UI"/>
              </a:rPr>
              <a:t>The app separates browsing, typed practice, recall, writing guides and focused tests so learners do not revise from one giant list.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788920"/>
            <a:ext cx="6473952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2944368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Vocabulary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2944368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Meanings, examples and translations for core word building.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273552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Imbuhan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3273552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Affix practice: apply prefixes, suffixes and word-form rules correctly.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8952" y="3209544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86384" y="3602736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Persamaan MCQ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3602736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Synonym recognition through sentence-context questions.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8952" y="3538728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86384" y="3931920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Persamaan Latihan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3931920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Typed synonym practice with immediate feedback.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952" y="3867912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86384" y="4261104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Karangan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1488" y="4261104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Essay vocabulary, phrase banks and definitions for composition writing.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8952" y="4197096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86384" y="4590288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Essay Recall Packs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4590288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Fast recall of openings, conclusions, examples and useful essay phrases.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8952" y="4526279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86384" y="4919472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Surat Resmi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1488" y="4919472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Formal letter structure, tone, standard phrases and sample responses.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58952" y="4855464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86384" y="5248656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Custom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1488" y="5248656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Configurable drills for focused revision on selected components.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58952" y="5184648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86384" y="5577840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Progress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61488" y="5577840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Streaks, XP and levels that make return practice visible.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58952" y="5513831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671816" y="2148840"/>
            <a:ext cx="3886200" cy="3401568"/>
          </a:xfrm>
          <a:prstGeom prst="roundRect">
            <a:avLst/>
          </a:prstGeom>
          <a:solidFill>
            <a:srgbClr val="EC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616952" y="2075688"/>
            <a:ext cx="3886200" cy="3401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616952" y="2075688"/>
            <a:ext cx="3886200" cy="310896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781544" y="2185416"/>
            <a:ext cx="91440" cy="91440"/>
          </a:xfrm>
          <a:prstGeom prst="roundRect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964424" y="2185416"/>
            <a:ext cx="91440" cy="91440"/>
          </a:xfrm>
          <a:prstGeom prst="roundRect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147304" y="2185416"/>
            <a:ext cx="91440" cy="91440"/>
          </a:xfrm>
          <a:prstGeom prst="roundRect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03-imbuh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6" y="2943034"/>
            <a:ext cx="3685032" cy="19960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A927D"/>
                </a:solidFill>
                <a:latin typeface="Segoe UI"/>
              </a:rPr>
              <a:t>Current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 dirty="0">
                <a:solidFill>
                  <a:srgbClr val="7FAE2D"/>
                </a:solidFill>
                <a:latin typeface="Segoe UI"/>
              </a:rPr>
              <a:t>CURRENT </a:t>
            </a:r>
            <a:r>
              <a:rPr lang="en-SG" sz="850" b="1" dirty="0">
                <a:solidFill>
                  <a:srgbClr val="7FAE2D"/>
                </a:solidFill>
                <a:latin typeface="Segoe UI"/>
              </a:rPr>
              <a:t>PROGRESS &amp; FUTURE PLANS</a:t>
            </a:r>
            <a:endParaRPr sz="850" b="1" dirty="0">
              <a:solidFill>
                <a:srgbClr val="7FAE2D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6858000" cy="10241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 dirty="0">
                <a:solidFill>
                  <a:srgbClr val="18202B"/>
                </a:solidFill>
                <a:latin typeface="Bahnschrift"/>
              </a:rPr>
              <a:t>Current state: </a:t>
            </a:r>
            <a:r>
              <a:rPr lang="en-SG" sz="3400" b="0" dirty="0">
                <a:solidFill>
                  <a:srgbClr val="18202B"/>
                </a:solidFill>
                <a:latin typeface="Bahnschrift"/>
              </a:rPr>
              <a:t>testing and taking users’ feedback</a:t>
            </a:r>
            <a:endParaRPr sz="3400" b="0" dirty="0">
              <a:solidFill>
                <a:srgbClr val="18202B"/>
              </a:solidFill>
              <a:latin typeface="Bahnschrif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dirty="0">
                <a:solidFill>
                  <a:srgbClr val="667085"/>
                </a:solidFill>
                <a:latin typeface="Segoe UI"/>
              </a:rPr>
              <a:t>The current numbers show coverage and informal trial 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3154680"/>
            <a:ext cx="29718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291840"/>
            <a:ext cx="2642616" cy="3474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7FAE2D"/>
                </a:solidFill>
                <a:latin typeface="Bahnschrift"/>
              </a:rPr>
              <a:t>1,554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21608"/>
            <a:ext cx="2642616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18202B"/>
                </a:solidFill>
                <a:latin typeface="Segoe UI"/>
              </a:rPr>
              <a:t>active drill-ready 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959352"/>
            <a:ext cx="2642616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60" b="0">
                <a:solidFill>
                  <a:srgbClr val="667085"/>
                </a:solidFill>
                <a:latin typeface="Segoe UI"/>
              </a:rPr>
              <a:t>Vocabulary, imbuhan and persamaan question pool.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75493" y="3160698"/>
            <a:ext cx="29718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40085" y="3247449"/>
            <a:ext cx="2642616" cy="3474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C88A2C"/>
                </a:solidFill>
                <a:latin typeface="Bahnschrift"/>
              </a:rPr>
              <a:t>10++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0085" y="3677217"/>
            <a:ext cx="2642616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1" dirty="0">
                <a:solidFill>
                  <a:srgbClr val="18202B"/>
                </a:solidFill>
                <a:latin typeface="Segoe UI"/>
              </a:rPr>
              <a:t>early informal trial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40085" y="3914961"/>
            <a:ext cx="2642616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60" b="0">
                <a:solidFill>
                  <a:srgbClr val="667085"/>
                </a:solidFill>
                <a:latin typeface="Segoe UI"/>
              </a:rPr>
              <a:t>Enough early use to keep improving.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71816" y="1792224"/>
            <a:ext cx="3886200" cy="2999232"/>
          </a:xfrm>
          <a:prstGeom prst="roundRect">
            <a:avLst/>
          </a:prstGeom>
          <a:solidFill>
            <a:srgbClr val="EC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616952" y="1719072"/>
            <a:ext cx="3886200" cy="2999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616952" y="1719072"/>
            <a:ext cx="3886200" cy="310896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781544" y="1828800"/>
            <a:ext cx="91440" cy="91440"/>
          </a:xfrm>
          <a:prstGeom prst="roundRect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964424" y="1828800"/>
            <a:ext cx="91440" cy="91440"/>
          </a:xfrm>
          <a:prstGeom prst="roundRect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147304" y="1828800"/>
            <a:ext cx="91440" cy="91440"/>
          </a:xfrm>
          <a:prstGeom prst="roundRect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06-test-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6" y="2385250"/>
            <a:ext cx="3685032" cy="1996059"/>
          </a:xfrm>
          <a:prstGeom prst="rect">
            <a:avLst/>
          </a:prstGeom>
        </p:spPr>
      </p:pic>
      <p:sp>
        <p:nvSpPr>
          <p:cNvPr id="34" name="Rounded Rectangle 8"/>
          <p:cNvSpPr/>
          <p:nvPr/>
        </p:nvSpPr>
        <p:spPr>
          <a:xfrm>
            <a:off x="530509" y="5016378"/>
            <a:ext cx="3236976" cy="12435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9"/>
          <p:cNvSpPr/>
          <p:nvPr/>
        </p:nvSpPr>
        <p:spPr>
          <a:xfrm>
            <a:off x="640237" y="5162682"/>
            <a:ext cx="36576" cy="950976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4829" y="5180970"/>
            <a:ext cx="2825496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Content quality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829" y="5455290"/>
            <a:ext cx="2825496" cy="7315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Review collected items and generated explanations before treating them as validated material.</a:t>
            </a:r>
          </a:p>
        </p:txBody>
      </p:sp>
      <p:sp>
        <p:nvSpPr>
          <p:cNvPr id="38" name="Rounded Rectangle 12"/>
          <p:cNvSpPr/>
          <p:nvPr/>
        </p:nvSpPr>
        <p:spPr>
          <a:xfrm>
            <a:off x="4233829" y="5016378"/>
            <a:ext cx="3236976" cy="12435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13"/>
          <p:cNvSpPr/>
          <p:nvPr/>
        </p:nvSpPr>
        <p:spPr>
          <a:xfrm>
            <a:off x="4343557" y="5162682"/>
            <a:ext cx="36576" cy="950976"/>
          </a:xfrm>
          <a:prstGeom prst="roundRect">
            <a:avLst/>
          </a:prstGeom>
          <a:solidFill>
            <a:srgbClr val="1F6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08148" y="5180970"/>
            <a:ext cx="2825496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User feedback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08148" y="5455290"/>
            <a:ext cx="2825496" cy="7315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Collect what learners find useful, confusing or missing during real use.</a:t>
            </a:r>
          </a:p>
        </p:txBody>
      </p:sp>
      <p:sp>
        <p:nvSpPr>
          <p:cNvPr id="42" name="Rounded Rectangle 16"/>
          <p:cNvSpPr/>
          <p:nvPr/>
        </p:nvSpPr>
        <p:spPr>
          <a:xfrm>
            <a:off x="7937149" y="5016378"/>
            <a:ext cx="3236976" cy="12435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17"/>
          <p:cNvSpPr/>
          <p:nvPr/>
        </p:nvSpPr>
        <p:spPr>
          <a:xfrm>
            <a:off x="8046876" y="5162682"/>
            <a:ext cx="36576" cy="950976"/>
          </a:xfrm>
          <a:prstGeom prst="roundRect">
            <a:avLst/>
          </a:prstGeom>
          <a:solidFill>
            <a:srgbClr val="C8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11469" y="5180970"/>
            <a:ext cx="2825496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Iterative refinement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1469" y="5455290"/>
            <a:ext cx="2825496" cy="7315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Use feedback and usage patterns to improve the most-used modules first.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538</Words>
  <Application>Microsoft Office PowerPoint</Application>
  <PresentationFormat>Widescreen</PresentationFormat>
  <Paragraphs>107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Bahnschrift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Frazer Tay</dc:creator>
  <cp:keywords/>
  <dc:description>generated using python-pptx</dc:description>
  <cp:lastModifiedBy>TAY CHUN ARN (MINDEF)</cp:lastModifiedBy>
  <cp:revision>2</cp:revision>
  <dcterms:created xsi:type="dcterms:W3CDTF">2013-01-27T09:14:16Z</dcterms:created>
  <dcterms:modified xsi:type="dcterms:W3CDTF">2026-05-06T13:31:39Z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e2e6ea9-9cb8-4ed1-a301-1de5a8b79906_Enabled">
    <vt:lpwstr>true</vt:lpwstr>
  </property>
  <property fmtid="{D5CDD505-2E9C-101B-9397-08002B2CF9AE}" pid="3" name="MSIP_Label_2e2e6ea9-9cb8-4ed1-a301-1de5a8b79906_SetDate">
    <vt:lpwstr>2026-05-06T13:31:39Z</vt:lpwstr>
  </property>
  <property fmtid="{D5CDD505-2E9C-101B-9397-08002B2CF9AE}" pid="4" name="MSIP_Label_2e2e6ea9-9cb8-4ed1-a301-1de5a8b79906_Method">
    <vt:lpwstr>Standard</vt:lpwstr>
  </property>
  <property fmtid="{D5CDD505-2E9C-101B-9397-08002B2CF9AE}" pid="5" name="MSIP_Label_2e2e6ea9-9cb8-4ed1-a301-1de5a8b79906_Name">
    <vt:lpwstr>Restricted Non-Sensitive</vt:lpwstr>
  </property>
  <property fmtid="{D5CDD505-2E9C-101B-9397-08002B2CF9AE}" pid="6" name="MSIP_Label_2e2e6ea9-9cb8-4ed1-a301-1de5a8b79906_SiteId">
    <vt:lpwstr>17558ced-9068-439c-bdf1-fe9f9e07f45e</vt:lpwstr>
  </property>
  <property fmtid="{D5CDD505-2E9C-101B-9397-08002B2CF9AE}" pid="7" name="MSIP_Label_2e2e6ea9-9cb8-4ed1-a301-1de5a8b79906_ActionId">
    <vt:lpwstr>6051da7b-21cf-4470-9dcb-f98372c3e3bf</vt:lpwstr>
  </property>
  <property fmtid="{D5CDD505-2E9C-101B-9397-08002B2CF9AE}" pid="8" name="MSIP_Label_2e2e6ea9-9cb8-4ed1-a301-1de5a8b79906_ContentBits">
    <vt:lpwstr>0</vt:lpwstr>
  </property>
  <property fmtid="{D5CDD505-2E9C-101B-9397-08002B2CF9AE}" pid="9" name="MSIP_Label_2e2e6ea9-9cb8-4ed1-a301-1de5a8b79906_Tag">
    <vt:lpwstr>10, 3, 0, 1</vt:lpwstr>
  </property>
</Properties>
</file>