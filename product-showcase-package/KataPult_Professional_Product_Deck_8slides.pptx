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0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0560"/>
            <a:ext cx="12191999" cy="30480"/>
          </a:xfrm>
          <a:prstGeom prst="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19" y="228600"/>
            <a:ext cx="8686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KataPult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79" y="243840"/>
            <a:ext cx="271271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8C2D2"/>
                </a:solidFill>
                <a:latin typeface="Apto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999" y="243840"/>
            <a:ext cx="5638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8C2D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19" y="975360"/>
            <a:ext cx="52577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6BDD3"/>
                </a:solidFill>
                <a:latin typeface="Aptos"/>
              </a:rPr>
              <a:t>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19" y="1295399"/>
            <a:ext cx="525779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Bahasa I2 practice,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structured by component.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19" y="2392680"/>
            <a:ext cx="5257799" cy="624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Aptos"/>
              </a:rPr>
              <a:t>KataPult helps learners move from scattered resources to targeted, repeatable practice.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7979" y="1242060"/>
            <a:ext cx="4876799" cy="3581400"/>
          </a:xfrm>
          <a:prstGeom prst="round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399" y="1143000"/>
            <a:ext cx="4876799" cy="358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399" y="1143000"/>
            <a:ext cx="4876799" cy="335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12279" y="1264920"/>
            <a:ext cx="106679" cy="106680"/>
          </a:xfrm>
          <a:prstGeom prst="ellipse">
            <a:avLst/>
          </a:prstGeom>
          <a:solidFill>
            <a:srgbClr val="F1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10399" y="1264920"/>
            <a:ext cx="106679" cy="106680"/>
          </a:xfrm>
          <a:prstGeom prst="ellipse">
            <a:avLst/>
          </a:prstGeom>
          <a:solidFill>
            <a:srgbClr val="F5C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08519" y="1264920"/>
            <a:ext cx="106679" cy="106680"/>
          </a:xfrm>
          <a:prstGeom prst="ellipse">
            <a:avLst/>
          </a:prstGeom>
          <a:solidFill>
            <a:srgbClr val="4FD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48599" y="1264920"/>
            <a:ext cx="3398519" cy="1066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403" y="1539240"/>
            <a:ext cx="4520793" cy="31394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79119" y="3962399"/>
            <a:ext cx="1600199" cy="11811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39" y="4130040"/>
            <a:ext cx="12191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1,554*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4556759"/>
            <a:ext cx="1219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drill / daily pool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9" y="4800600"/>
            <a:ext cx="1219199" cy="251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Vocabulary + imbuhan + persamaan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07919" y="3962399"/>
            <a:ext cx="1600199" cy="11811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4130040"/>
            <a:ext cx="12191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971**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39" y="4556759"/>
            <a:ext cx="1219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custom-test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39" y="4800600"/>
            <a:ext cx="1219199" cy="251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Imbuhan + persamaan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19" y="3962399"/>
            <a:ext cx="1600199" cy="11811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39" y="4130040"/>
            <a:ext cx="12191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40++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556759"/>
            <a:ext cx="1219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learners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39" y="4800600"/>
            <a:ext cx="1219199" cy="251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Across at least 4 entities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19" y="6141720"/>
            <a:ext cx="68884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* Drill pool excludes revision-only modules. ** Custom tests draw from question-form components.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0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0560"/>
            <a:ext cx="12191999" cy="30480"/>
          </a:xfrm>
          <a:prstGeom prst="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19" y="228600"/>
            <a:ext cx="8686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KataPult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79" y="243840"/>
            <a:ext cx="271271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8C2D2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999" y="243840"/>
            <a:ext cx="5638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8C2D2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19" y="975360"/>
            <a:ext cx="56387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6BDD3"/>
                </a:solidFill>
                <a:latin typeface="Aptos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19" y="1295399"/>
            <a:ext cx="563879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The issue was not content.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It was practice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19" y="2392680"/>
            <a:ext cx="5638799" cy="624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Aptos"/>
              </a:rPr>
              <a:t>Useful material existed, but preparation was spread across notes, PDFs, screenshots, links, Quizlet sets and LLM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2799" y="1447800"/>
            <a:ext cx="4175759" cy="1493520"/>
          </a:xfrm>
          <a:prstGeom prst="roundRect">
            <a:avLst/>
          </a:prstGeom>
          <a:solidFill>
            <a:srgbClr val="F2F7FB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5679" y="1600200"/>
            <a:ext cx="3809999" cy="1904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Operational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5679" y="1874519"/>
            <a:ext cx="38099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0">
                <a:solidFill>
                  <a:srgbClr val="647084"/>
                </a:solidFill>
                <a:latin typeface="Aptos"/>
              </a:rPr>
              <a:t>Each learner could prepare independently, but the organisation did not get a reusable practice surface or usage signal from that effort.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119" y="4152899"/>
            <a:ext cx="3276599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6759" y="4320540"/>
            <a:ext cx="53339" cy="1036320"/>
          </a:xfrm>
          <a:prstGeom prst="roundRect">
            <a:avLst/>
          </a:prstGeom>
          <a:solidFill>
            <a:srgbClr val="36B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879" y="432054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Scattered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879" y="4610100"/>
            <a:ext cx="272795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Resources lived in separate places, making it hard to restart quickly.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4819" y="4152899"/>
            <a:ext cx="3276599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42459" y="4320540"/>
            <a:ext cx="53339" cy="1036320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0579" y="432054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Passive revision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0579" y="4610100"/>
            <a:ext cx="272795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Reading and collecting examples did not force retrieval.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0519" y="4152899"/>
            <a:ext cx="3276599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59" y="4320540"/>
            <a:ext cx="53339" cy="1036320"/>
          </a:xfrm>
          <a:prstGeom prst="roundRect">
            <a:avLst/>
          </a:prstGeom>
          <a:solidFill>
            <a:srgbClr val="F5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6279" y="432054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No shared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6279" y="4610100"/>
            <a:ext cx="272795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There was no easy way to see what was practised or where time was spent.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0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0560"/>
            <a:ext cx="12191999" cy="30480"/>
          </a:xfrm>
          <a:prstGeom prst="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19" y="228600"/>
            <a:ext cx="8686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KataPult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79" y="243840"/>
            <a:ext cx="271271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8C2D2"/>
                </a:solidFill>
                <a:latin typeface="Aptos"/>
              </a:rPr>
              <a:t>Solution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999" y="243840"/>
            <a:ext cx="5638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8C2D2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19" y="975360"/>
            <a:ext cx="48767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6BDD3"/>
                </a:solidFill>
                <a:latin typeface="Aptos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19" y="1295399"/>
            <a:ext cx="4876799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One repeatable practice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19" y="1889759"/>
            <a:ext cx="4876799" cy="624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Aptos"/>
              </a:rPr>
              <a:t>The app is organised around what a learner does in a short session.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9119" y="3200400"/>
            <a:ext cx="411479" cy="411479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119" y="3299460"/>
            <a:ext cx="4114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2999" y="3139440"/>
            <a:ext cx="2255519" cy="975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119" y="3307080"/>
            <a:ext cx="1889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Choose 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1119" y="3596640"/>
            <a:ext cx="187451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Vocabulary, imbuhan, persamaan, writing, surat rasmi or flashcards.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0919" y="3200400"/>
            <a:ext cx="411479" cy="411479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0919" y="3299460"/>
            <a:ext cx="4114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3139440"/>
            <a:ext cx="2255519" cy="975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2919" y="3307080"/>
            <a:ext cx="1889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Practise actively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2919" y="3596640"/>
            <a:ext cx="187451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Answer targeted questions instead of rereading long notes.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9119" y="4381499"/>
            <a:ext cx="411479" cy="411479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119" y="4480560"/>
            <a:ext cx="4114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2999" y="4320540"/>
            <a:ext cx="2255519" cy="975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1119" y="4488180"/>
            <a:ext cx="1889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Review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1119" y="4777740"/>
            <a:ext cx="187451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See what to repeat and which weak area to revisit.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50919" y="4381499"/>
            <a:ext cx="411479" cy="411479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50919" y="4480560"/>
            <a:ext cx="4114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ptos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799" y="4320540"/>
            <a:ext cx="2255519" cy="975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2919" y="4488180"/>
            <a:ext cx="1889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Track usage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2919" y="4777740"/>
            <a:ext cx="187451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Capture section visits and time spent as adoption evidence.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2779" y="1348739"/>
            <a:ext cx="4571999" cy="3703320"/>
          </a:xfrm>
          <a:prstGeom prst="round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34199" y="1249680"/>
            <a:ext cx="4571999" cy="3703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34199" y="1249680"/>
            <a:ext cx="4571999" cy="335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17079" y="1371600"/>
            <a:ext cx="106679" cy="106680"/>
          </a:xfrm>
          <a:prstGeom prst="ellipse">
            <a:avLst/>
          </a:prstGeom>
          <a:solidFill>
            <a:srgbClr val="F1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199" y="1371600"/>
            <a:ext cx="106679" cy="106680"/>
          </a:xfrm>
          <a:prstGeom prst="ellipse">
            <a:avLst/>
          </a:prstGeom>
          <a:solidFill>
            <a:srgbClr val="F5C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13319" y="1371600"/>
            <a:ext cx="106679" cy="106680"/>
          </a:xfrm>
          <a:prstGeom prst="ellipse">
            <a:avLst/>
          </a:prstGeom>
          <a:solidFill>
            <a:srgbClr val="4FD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53399" y="1371600"/>
            <a:ext cx="3093719" cy="1066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39" y="1779058"/>
            <a:ext cx="4312919" cy="29950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0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0560"/>
            <a:ext cx="12191999" cy="30480"/>
          </a:xfrm>
          <a:prstGeom prst="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19" y="228600"/>
            <a:ext cx="8686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KataPult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79" y="243840"/>
            <a:ext cx="271271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8C2D2"/>
                </a:solidFill>
                <a:latin typeface="Aptos"/>
              </a:rPr>
              <a:t>Practice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999" y="243840"/>
            <a:ext cx="5638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8C2D2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19" y="975360"/>
            <a:ext cx="5791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6BDD3"/>
                </a:solidFill>
                <a:latin typeface="Aptos"/>
              </a:rPr>
              <a:t>SCALE AND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19" y="1295399"/>
            <a:ext cx="579119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The numbers are counted by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use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19" y="2392680"/>
            <a:ext cx="5791199" cy="624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Aptos"/>
              </a:rPr>
              <a:t>This slide prevents the common confusion between total drill pool, custom-test bank and revision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9119" y="3009900"/>
            <a:ext cx="1828799" cy="1219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3177540"/>
            <a:ext cx="14477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1,554*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3604260"/>
            <a:ext cx="14477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drill / daily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" y="3848099"/>
            <a:ext cx="14477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583 vocabulary + 666 imbuhan + 305 persamaan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6519" y="3009900"/>
            <a:ext cx="1828799" cy="1219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39" y="3177540"/>
            <a:ext cx="14477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971**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3604260"/>
            <a:ext cx="14477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custom-test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3848099"/>
            <a:ext cx="14477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666 imbuhan + 305 persamaan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3919" y="3009900"/>
            <a:ext cx="1828799" cy="1219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39" y="3177540"/>
            <a:ext cx="14477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36BDD3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39" y="3604260"/>
            <a:ext cx="14477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revision surfaces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39" y="3848099"/>
            <a:ext cx="14477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Karangan phrases, surat rasmi and flashcards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119" y="4739640"/>
            <a:ext cx="5974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20" b="1">
                <a:solidFill>
                  <a:srgbClr val="172033"/>
                </a:solidFill>
                <a:latin typeface="Aptos"/>
              </a:rPr>
              <a:t>* 583 + 666 + 305 = 1,554. ** 666 + 305 = 971.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119" y="5044440"/>
            <a:ext cx="5867399" cy="518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19" b="0">
                <a:solidFill>
                  <a:srgbClr val="647084"/>
                </a:solidFill>
                <a:latin typeface="Aptos"/>
              </a:rPr>
              <a:t>Karangan, surat rasmi and flashcards are shown separately because they are revision surfaces, not custom-test question banks.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62799" y="1143000"/>
            <a:ext cx="4267199" cy="4038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6159" y="1341120"/>
            <a:ext cx="14630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47084"/>
                </a:solidFill>
                <a:latin typeface="Aptos"/>
              </a:rPr>
              <a:t>Component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1341120"/>
            <a:ext cx="7772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47084"/>
                </a:solidFill>
                <a:latin typeface="Aptos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79" y="1341120"/>
            <a:ext cx="12039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47084"/>
                </a:solidFill>
                <a:latin typeface="Aptos"/>
              </a:rPr>
              <a:t>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5679" y="1562100"/>
            <a:ext cx="3901439" cy="7620"/>
          </a:xfrm>
          <a:prstGeom prst="rect">
            <a:avLst/>
          </a:prstGeom>
          <a:solidFill>
            <a:srgbClr val="D9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6159" y="1691640"/>
            <a:ext cx="15011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Vocabulary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1691640"/>
            <a:ext cx="8534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583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79" y="1691640"/>
            <a:ext cx="1280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47084"/>
                </a:solidFill>
                <a:latin typeface="Aptos"/>
              </a:rPr>
              <a:t>Drill / daily pool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45679" y="2034540"/>
            <a:ext cx="3901439" cy="7620"/>
          </a:xfrm>
          <a:prstGeom prst="rect">
            <a:avLst/>
          </a:prstGeom>
          <a:solidFill>
            <a:srgbClr val="D9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6159" y="2164080"/>
            <a:ext cx="15011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Imbuhan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2164080"/>
            <a:ext cx="8534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666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79" y="2164080"/>
            <a:ext cx="1280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47084"/>
                </a:solidFill>
                <a:latin typeface="Aptos"/>
              </a:rPr>
              <a:t>Drill / daily + custom tests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45679" y="2506980"/>
            <a:ext cx="3901439" cy="7620"/>
          </a:xfrm>
          <a:prstGeom prst="rect">
            <a:avLst/>
          </a:prstGeom>
          <a:solidFill>
            <a:srgbClr val="D9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6159" y="2636520"/>
            <a:ext cx="15011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Persamaan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59" y="2636520"/>
            <a:ext cx="8534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305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79" y="2636520"/>
            <a:ext cx="1280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47084"/>
                </a:solidFill>
                <a:latin typeface="Aptos"/>
              </a:rPr>
              <a:t>Drill / daily + custom tests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45679" y="2979420"/>
            <a:ext cx="3901439" cy="7620"/>
          </a:xfrm>
          <a:prstGeom prst="rect">
            <a:avLst/>
          </a:prstGeom>
          <a:solidFill>
            <a:srgbClr val="D9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6159" y="3108960"/>
            <a:ext cx="15011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Karangan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3108960"/>
            <a:ext cx="8534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297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79" y="3108960"/>
            <a:ext cx="1280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47084"/>
                </a:solidFill>
                <a:latin typeface="Aptos"/>
              </a:rPr>
              <a:t>Writing phrases / revision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45679" y="3451860"/>
            <a:ext cx="3901439" cy="7620"/>
          </a:xfrm>
          <a:prstGeom prst="rect">
            <a:avLst/>
          </a:prstGeom>
          <a:solidFill>
            <a:srgbClr val="D9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6159" y="3581400"/>
            <a:ext cx="15011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Surat rasmi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59" y="3581400"/>
            <a:ext cx="8534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8 sections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79" y="3581400"/>
            <a:ext cx="1280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47084"/>
                </a:solidFill>
                <a:latin typeface="Aptos"/>
              </a:rPr>
              <a:t>Templates and structure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45679" y="3924299"/>
            <a:ext cx="3901439" cy="7620"/>
          </a:xfrm>
          <a:prstGeom prst="rect">
            <a:avLst/>
          </a:prstGeom>
          <a:solidFill>
            <a:srgbClr val="D9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6159" y="4053840"/>
            <a:ext cx="15011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Flashcards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59" y="4053840"/>
            <a:ext cx="85343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23 sets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79" y="4053840"/>
            <a:ext cx="1280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47084"/>
                </a:solidFill>
                <a:latin typeface="Aptos"/>
              </a:rPr>
              <a:t>Recall and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0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0560"/>
            <a:ext cx="12191999" cy="30480"/>
          </a:xfrm>
          <a:prstGeom prst="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19" y="228600"/>
            <a:ext cx="8686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KataPult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79" y="243840"/>
            <a:ext cx="271271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8C2D2"/>
                </a:solidFill>
                <a:latin typeface="Aptos"/>
              </a:rPr>
              <a:t>Feature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999" y="243840"/>
            <a:ext cx="5638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8C2D2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19" y="975360"/>
            <a:ext cx="5029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6BDD3"/>
                </a:solidFill>
                <a:latin typeface="Aptos"/>
              </a:rPr>
              <a:t>EXAM-SKILL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19" y="1295399"/>
            <a:ext cx="502919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Learners practise the exact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weak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19" y="2392680"/>
            <a:ext cx="5029199" cy="624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Aptos"/>
              </a:rPr>
              <a:t>This is not a generic language app: each section maps to an I2-relevant practice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0379" y="1196340"/>
            <a:ext cx="4724399" cy="3550920"/>
          </a:xfrm>
          <a:prstGeom prst="round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81799" y="1097280"/>
            <a:ext cx="4724399" cy="3550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81799" y="1097280"/>
            <a:ext cx="4724399" cy="335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64679" y="1219200"/>
            <a:ext cx="106679" cy="106680"/>
          </a:xfrm>
          <a:prstGeom prst="ellipse">
            <a:avLst/>
          </a:prstGeom>
          <a:solidFill>
            <a:srgbClr val="F1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62799" y="1219200"/>
            <a:ext cx="106679" cy="106680"/>
          </a:xfrm>
          <a:prstGeom prst="ellipse">
            <a:avLst/>
          </a:prstGeom>
          <a:solidFill>
            <a:srgbClr val="F5C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19" y="1219200"/>
            <a:ext cx="106679" cy="106680"/>
          </a:xfrm>
          <a:prstGeom prst="ellipse">
            <a:avLst/>
          </a:prstGeom>
          <a:solidFill>
            <a:srgbClr val="4FD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0999" y="1219200"/>
            <a:ext cx="3246119" cy="1066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-persama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339" y="1497541"/>
            <a:ext cx="4465319" cy="310091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79119" y="2987040"/>
            <a:ext cx="2324099" cy="71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6759" y="3154680"/>
            <a:ext cx="53339" cy="380999"/>
          </a:xfrm>
          <a:prstGeom prst="roundRect">
            <a:avLst/>
          </a:prstGeom>
          <a:solidFill>
            <a:srgbClr val="36B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879" y="3154680"/>
            <a:ext cx="17906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Vocabulary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79" y="3444240"/>
            <a:ext cx="1775459" cy="12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Meaning and usage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583 items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8019" y="2987040"/>
            <a:ext cx="2324099" cy="71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75659" y="3154680"/>
            <a:ext cx="53339" cy="380999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3779" y="3154680"/>
            <a:ext cx="17906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Imbuhan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3779" y="3444240"/>
            <a:ext cx="1775459" cy="12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Word formation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666 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9119" y="3901440"/>
            <a:ext cx="2324099" cy="71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759" y="4069080"/>
            <a:ext cx="53339" cy="380999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879" y="4069080"/>
            <a:ext cx="17906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Persamaan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79" y="4358640"/>
            <a:ext cx="1775459" cy="12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Synonym precision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305 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8019" y="3901440"/>
            <a:ext cx="2324099" cy="71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75659" y="4069080"/>
            <a:ext cx="53339" cy="380999"/>
          </a:xfrm>
          <a:prstGeom prst="roundRect">
            <a:avLst/>
          </a:prstGeom>
          <a:solidFill>
            <a:srgbClr val="36B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73779" y="4069080"/>
            <a:ext cx="17906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Karangan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3779" y="4358640"/>
            <a:ext cx="1775459" cy="12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Ready phrases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297 phrases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9119" y="4815840"/>
            <a:ext cx="2324099" cy="71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6759" y="4983480"/>
            <a:ext cx="53339" cy="380999"/>
          </a:xfrm>
          <a:prstGeom prst="roundRect">
            <a:avLst/>
          </a:prstGeom>
          <a:solidFill>
            <a:srgbClr val="36B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879" y="4983480"/>
            <a:ext cx="17906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Surat rasmi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79" y="5273040"/>
            <a:ext cx="1775459" cy="12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Structure and tone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8 sections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8019" y="4815840"/>
            <a:ext cx="2324099" cy="71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75659" y="4983480"/>
            <a:ext cx="53339" cy="380999"/>
          </a:xfrm>
          <a:prstGeom prst="roundRect">
            <a:avLst/>
          </a:prstGeom>
          <a:solidFill>
            <a:srgbClr val="36B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73779" y="4983480"/>
            <a:ext cx="17906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Flashcards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73779" y="5273040"/>
            <a:ext cx="1775459" cy="12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Recall and review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23 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0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0560"/>
            <a:ext cx="12191999" cy="30480"/>
          </a:xfrm>
          <a:prstGeom prst="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19" y="228600"/>
            <a:ext cx="8686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KataPult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79" y="243840"/>
            <a:ext cx="271271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8C2D2"/>
                </a:solidFill>
                <a:latin typeface="Aptos"/>
              </a:rPr>
              <a:t>Feature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999" y="243840"/>
            <a:ext cx="5638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8C2D2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19" y="975360"/>
            <a:ext cx="53339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6BDD3"/>
                </a:solidFill>
                <a:latin typeface="Aptos"/>
              </a:rPr>
              <a:t>FOCUSED CUSTOM DRILLS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19" y="1295399"/>
            <a:ext cx="533399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A weak area becomes 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short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19" y="2392680"/>
            <a:ext cx="5333999" cy="624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Aptos"/>
              </a:rPr>
              <a:t>Custom tests use the 971-item bank from imbuhan and persamaan question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9379" y="1104900"/>
            <a:ext cx="5105399" cy="3764279"/>
          </a:xfrm>
          <a:prstGeom prst="round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799" y="1005840"/>
            <a:ext cx="5105399" cy="376427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799" y="1005840"/>
            <a:ext cx="5105399" cy="335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79" y="1127760"/>
            <a:ext cx="106679" cy="106680"/>
          </a:xfrm>
          <a:prstGeom prst="ellipse">
            <a:avLst/>
          </a:prstGeom>
          <a:solidFill>
            <a:srgbClr val="F1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81799" y="1127760"/>
            <a:ext cx="106679" cy="106680"/>
          </a:xfrm>
          <a:prstGeom prst="ellipse">
            <a:avLst/>
          </a:prstGeom>
          <a:solidFill>
            <a:srgbClr val="F5C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79919" y="1127760"/>
            <a:ext cx="106679" cy="106680"/>
          </a:xfrm>
          <a:prstGeom prst="ellipse">
            <a:avLst/>
          </a:prstGeom>
          <a:solidFill>
            <a:srgbClr val="4FD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19999" y="1127760"/>
            <a:ext cx="3627119" cy="1066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429" y="1402080"/>
            <a:ext cx="4784140" cy="33223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79119" y="2987040"/>
            <a:ext cx="5059679" cy="701040"/>
          </a:xfrm>
          <a:prstGeom prst="roundRect">
            <a:avLst/>
          </a:prstGeom>
          <a:solidFill>
            <a:srgbClr val="F2F7FB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99" y="3139440"/>
            <a:ext cx="4693919" cy="1904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Custom-test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99" y="3413760"/>
            <a:ext cx="4693919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0">
                <a:solidFill>
                  <a:srgbClr val="647084"/>
                </a:solidFill>
                <a:latin typeface="Aptos"/>
              </a:rPr>
              <a:t>666 imbuhan items + 305 persamaan items = 971 custom-test items.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9119" y="4114800"/>
            <a:ext cx="1676399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6759" y="4282440"/>
            <a:ext cx="53339" cy="807720"/>
          </a:xfrm>
          <a:prstGeom prst="roundRect">
            <a:avLst/>
          </a:prstGeom>
          <a:solidFill>
            <a:srgbClr val="36B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879" y="4282440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Choose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79" y="4572000"/>
            <a:ext cx="112775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Select imbuhan or persamaan.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22219" y="4114800"/>
            <a:ext cx="1676399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89859" y="4282440"/>
            <a:ext cx="53339" cy="807720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7979" y="4282440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Set length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7979" y="4572000"/>
            <a:ext cx="112775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Run 5, 10 or 20 questions depending on available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5319" y="4114800"/>
            <a:ext cx="1676399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32959" y="4282440"/>
            <a:ext cx="53339" cy="807720"/>
          </a:xfrm>
          <a:prstGeom prst="roundRect">
            <a:avLst/>
          </a:prstGeom>
          <a:solidFill>
            <a:srgbClr val="36B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1079" y="4282440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1079" y="4572000"/>
            <a:ext cx="112775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Use mistakes to decide what to repeat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0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0560"/>
            <a:ext cx="12191999" cy="30480"/>
          </a:xfrm>
          <a:prstGeom prst="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19" y="228600"/>
            <a:ext cx="8686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KataPult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79" y="243840"/>
            <a:ext cx="271271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8C2D2"/>
                </a:solidFill>
                <a:latin typeface="Aptos"/>
              </a:rPr>
              <a:t>Feature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999" y="243840"/>
            <a:ext cx="5638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8C2D2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19" y="975360"/>
            <a:ext cx="5791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6BDD3"/>
                </a:solidFill>
                <a:latin typeface="Aptos"/>
              </a:rPr>
              <a:t>DAILY PRACTICE AND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19" y="1295399"/>
            <a:ext cx="579119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Keep sessions small. Make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behaviour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19" y="2392680"/>
            <a:ext cx="5791199" cy="624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Aptos"/>
              </a:rPr>
              <a:t>Daily challenge draws from the 1,554-item pool; tracking records what users actually visit and practise.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0379" y="1104900"/>
            <a:ext cx="4724399" cy="3764279"/>
          </a:xfrm>
          <a:prstGeom prst="round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81799" y="1005840"/>
            <a:ext cx="4724399" cy="376427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81799" y="1005840"/>
            <a:ext cx="4724399" cy="335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64679" y="1127760"/>
            <a:ext cx="106679" cy="106680"/>
          </a:xfrm>
          <a:prstGeom prst="ellipse">
            <a:avLst/>
          </a:prstGeom>
          <a:solidFill>
            <a:srgbClr val="F1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62799" y="1127760"/>
            <a:ext cx="106679" cy="106680"/>
          </a:xfrm>
          <a:prstGeom prst="ellipse">
            <a:avLst/>
          </a:prstGeom>
          <a:solidFill>
            <a:srgbClr val="F5C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19" y="1127760"/>
            <a:ext cx="106679" cy="106680"/>
          </a:xfrm>
          <a:prstGeom prst="ellipse">
            <a:avLst/>
          </a:prstGeom>
          <a:solidFill>
            <a:srgbClr val="4FD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0999" y="1127760"/>
            <a:ext cx="3246119" cy="1066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7-daily-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339" y="1512781"/>
            <a:ext cx="4465319" cy="310091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79119" y="3154680"/>
            <a:ext cx="1600199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39" y="3322320"/>
            <a:ext cx="12191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3749039"/>
            <a:ext cx="1219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daily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9" y="3992879"/>
            <a:ext cx="1219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Small enough for a quick 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07919" y="3154680"/>
            <a:ext cx="1600199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3322320"/>
            <a:ext cx="12191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1,554*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39" y="3749039"/>
            <a:ext cx="1219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daily 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39" y="3992879"/>
            <a:ext cx="1219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Vocabulary + imbuhan + persamaan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19" y="3154680"/>
            <a:ext cx="1600199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39" y="3322320"/>
            <a:ext cx="12191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5-10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3749039"/>
            <a:ext cx="1219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minutes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39" y="3992879"/>
            <a:ext cx="1219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Designed around pockets of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9119" y="4739640"/>
            <a:ext cx="5257799" cy="94487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6759" y="4907280"/>
            <a:ext cx="53339" cy="609600"/>
          </a:xfrm>
          <a:prstGeom prst="roundRect">
            <a:avLst/>
          </a:prstGeom>
          <a:solidFill>
            <a:srgbClr val="36B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879" y="4907280"/>
            <a:ext cx="47243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What can be observed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79" y="5196840"/>
            <a:ext cx="470915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Aptos"/>
              </a:rPr>
              <a:t>Section visits, time spent by section, total session duration, active days and adoption across entities.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0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0560"/>
            <a:ext cx="12191999" cy="30480"/>
          </a:xfrm>
          <a:prstGeom prst="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19" y="228600"/>
            <a:ext cx="8686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KataPult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79" y="243840"/>
            <a:ext cx="271271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8C2D2"/>
                </a:solidFill>
                <a:latin typeface="Aptos"/>
              </a:rPr>
              <a:t>Demo and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999" y="243840"/>
            <a:ext cx="5638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8C2D2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19" y="975360"/>
            <a:ext cx="5791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6BDD3"/>
                </a:solidFill>
                <a:latin typeface="Aptos"/>
              </a:rPr>
              <a:t>HOW TO PRESENT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19" y="1295399"/>
            <a:ext cx="579119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Demo the learner flow, then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72033"/>
                </a:solidFill>
                <a:latin typeface="Aptos Display"/>
              </a:rPr>
              <a:t>show the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19" y="2392680"/>
            <a:ext cx="5791199" cy="624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Aptos"/>
              </a:rPr>
              <a:t>A clean 10-minute prep path, followed by the usage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319" y="2956560"/>
            <a:ext cx="304799" cy="335280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19" y="3040380"/>
            <a:ext cx="3047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239" y="2956560"/>
            <a:ext cx="4175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72033"/>
                </a:solidFill>
                <a:latin typeface="Aptos"/>
              </a:rPr>
              <a:t>Open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239" y="3185160"/>
            <a:ext cx="46329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80" b="0">
                <a:solidFill>
                  <a:srgbClr val="647084"/>
                </a:solidFill>
                <a:latin typeface="Aptos"/>
              </a:rPr>
              <a:t>Shows all practice paths in one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19" y="3627119"/>
            <a:ext cx="304799" cy="335280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19" y="3710940"/>
            <a:ext cx="3047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239" y="3627119"/>
            <a:ext cx="4175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72033"/>
                </a:solidFill>
                <a:latin typeface="Aptos"/>
              </a:rPr>
              <a:t>Pick weak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8239" y="3855720"/>
            <a:ext cx="46329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80" b="0">
                <a:solidFill>
                  <a:srgbClr val="647084"/>
                </a:solidFill>
                <a:latin typeface="Aptos"/>
              </a:rPr>
              <a:t>Jump straight to vocabulary, imbuhan or persamaan.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319" y="4297680"/>
            <a:ext cx="304799" cy="335280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19" y="4381499"/>
            <a:ext cx="3047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8239" y="4297680"/>
            <a:ext cx="4175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72033"/>
                </a:solidFill>
                <a:latin typeface="Aptos"/>
              </a:rPr>
              <a:t>Run custom drill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8239" y="4526280"/>
            <a:ext cx="46329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80" b="0">
                <a:solidFill>
                  <a:srgbClr val="647084"/>
                </a:solidFill>
                <a:latin typeface="Aptos"/>
              </a:rPr>
              <a:t>Turn a weak area into a short test.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19" y="4968240"/>
            <a:ext cx="304799" cy="335280"/>
          </a:xfrm>
          <a:prstGeom prst="roundRect">
            <a:avLst/>
          </a:prstGeom>
          <a:solidFill>
            <a:srgbClr val="A6D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19" y="5052060"/>
            <a:ext cx="3047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8239" y="4968240"/>
            <a:ext cx="4175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72033"/>
                </a:solidFill>
                <a:latin typeface="Aptos"/>
              </a:rPr>
              <a:t>Check usage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8239" y="5196840"/>
            <a:ext cx="46329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80" b="0">
                <a:solidFill>
                  <a:srgbClr val="647084"/>
                </a:solidFill>
                <a:latin typeface="Aptos"/>
              </a:rPr>
              <a:t>Show section and time tracking once enough data accumulates.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0379" y="1104900"/>
            <a:ext cx="4724399" cy="2926080"/>
          </a:xfrm>
          <a:prstGeom prst="round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81799" y="1005840"/>
            <a:ext cx="4724399" cy="2926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81799" y="1005840"/>
            <a:ext cx="4724399" cy="335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64679" y="1127760"/>
            <a:ext cx="106679" cy="106680"/>
          </a:xfrm>
          <a:prstGeom prst="ellipse">
            <a:avLst/>
          </a:prstGeom>
          <a:solidFill>
            <a:srgbClr val="F1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62799" y="1127760"/>
            <a:ext cx="106679" cy="106680"/>
          </a:xfrm>
          <a:prstGeom prst="ellipse">
            <a:avLst/>
          </a:prstGeom>
          <a:solidFill>
            <a:srgbClr val="F5C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60919" y="1127760"/>
            <a:ext cx="106679" cy="106680"/>
          </a:xfrm>
          <a:prstGeom prst="ellipse">
            <a:avLst/>
          </a:prstGeom>
          <a:solidFill>
            <a:srgbClr val="4FD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0999" y="1127760"/>
            <a:ext cx="3246119" cy="1066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433" y="1402080"/>
            <a:ext cx="3577132" cy="24841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781799" y="4343400"/>
            <a:ext cx="1295399" cy="1112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9919" y="4511040"/>
            <a:ext cx="9143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40++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9919" y="4937759"/>
            <a:ext cx="914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learners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9919" y="5181599"/>
            <a:ext cx="914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Known adoption signal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699" y="4343400"/>
            <a:ext cx="1295399" cy="1112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65819" y="4511040"/>
            <a:ext cx="9143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4+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5819" y="4937759"/>
            <a:ext cx="914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entities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5819" y="5181599"/>
            <a:ext cx="914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Cross-team use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53599" y="4343400"/>
            <a:ext cx="1752599" cy="1112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51719" y="4511040"/>
            <a:ext cx="1371599" cy="3809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A6D83A"/>
                </a:solidFill>
                <a:latin typeface="Aptos Display"/>
              </a:rPr>
              <a:t>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1719" y="4937759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"/>
              </a:rPr>
              <a:t>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51719" y="5181599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19" b="0">
                <a:solidFill>
                  <a:srgbClr val="647084"/>
                </a:solidFill>
                <a:latin typeface="Aptos"/>
              </a:rPr>
              <a:t>Usage evidence as logging matures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