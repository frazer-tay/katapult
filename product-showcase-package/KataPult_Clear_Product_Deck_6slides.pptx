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Bahasa I2 Prep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4863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PRODUCT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486399" cy="1417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Structured Bahasa I2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practice, not another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folder of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788920"/>
            <a:ext cx="54863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KataPult turns collected materials into short, repeatable drills by exam component.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52259" y="1234439"/>
            <a:ext cx="4914899" cy="3810000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91299" y="1143000"/>
            <a:ext cx="4914899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91299" y="1143000"/>
            <a:ext cx="491489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58939" y="1249680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41819" y="1249680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24699" y="1249680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03819" y="1249680"/>
            <a:ext cx="358901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359" y="1922938"/>
            <a:ext cx="4716779" cy="2554922"/>
          </a:xfrm>
          <a:prstGeom prst="rect">
            <a:avLst/>
          </a:prstGeom>
        </p:spPr>
      </p:pic>
      <p:cxnSp>
        <p:nvCxnSpPr>
          <p:cNvPr id="17" name="Connector 16"/>
          <p:cNvCxnSpPr/>
          <p:nvPr/>
        </p:nvCxnSpPr>
        <p:spPr>
          <a:xfrm>
            <a:off x="548639" y="5852160"/>
            <a:ext cx="2788920" cy="0"/>
          </a:xfrm>
          <a:prstGeom prst="line">
            <a:avLst/>
          </a:prstGeom>
          <a:ln w="3810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39" y="6065520"/>
            <a:ext cx="7924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Simple 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2079" y="6065520"/>
            <a:ext cx="48463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Segoe UI"/>
              </a:rPr>
              <a:t>Pick a component. Practise. Review. Continue later.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9435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PREPARATION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9435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The friction was restarting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practice consistently.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316480"/>
            <a:ext cx="59435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The content was already there. The missing part was a structured way to turn it into repeatable exam practice.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59" y="3284219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Notes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39" y="3383280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0559" y="3680459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PDFs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0239" y="3779519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0559" y="4076699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Screenshots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39" y="4175760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0559" y="4472940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Links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20239" y="4572000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0559" y="4869179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Quizlet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20239" y="4968240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0559" y="5265420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LLM prompts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0239" y="5364480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39639" y="3017520"/>
            <a:ext cx="0" cy="2621279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66359" y="3276600"/>
            <a:ext cx="3368039" cy="259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8202B"/>
                </a:solidFill>
                <a:latin typeface="Segoe UI"/>
              </a:rPr>
              <a:t>What kept breaking</a:t>
            </a:r>
          </a:p>
        </p:txBody>
      </p:sp>
      <p:sp>
        <p:nvSpPr>
          <p:cNvPr id="23" name="Oval 22"/>
          <p:cNvSpPr/>
          <p:nvPr/>
        </p:nvSpPr>
        <p:spPr>
          <a:xfrm>
            <a:off x="5151119" y="3848099"/>
            <a:ext cx="106679" cy="106680"/>
          </a:xfrm>
          <a:prstGeom prst="ellipse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0199" y="3810000"/>
            <a:ext cx="40385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8202B"/>
                </a:solidFill>
                <a:latin typeface="Segoe UI"/>
              </a:rPr>
              <a:t>No fixed practice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0199" y="4053840"/>
            <a:ext cx="54863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Segoe UI"/>
              </a:rPr>
              <a:t>Learners had to decide where to restart each time.</a:t>
            </a:r>
          </a:p>
        </p:txBody>
      </p:sp>
      <p:sp>
        <p:nvSpPr>
          <p:cNvPr id="26" name="Oval 25"/>
          <p:cNvSpPr/>
          <p:nvPr/>
        </p:nvSpPr>
        <p:spPr>
          <a:xfrm>
            <a:off x="5151119" y="4442460"/>
            <a:ext cx="106679" cy="106680"/>
          </a:xfrm>
          <a:prstGeom prst="ellipse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0199" y="4404360"/>
            <a:ext cx="40385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8202B"/>
                </a:solidFill>
                <a:latin typeface="Segoe UI"/>
              </a:rPr>
              <a:t>Weak areas needed drilling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0199" y="4648200"/>
            <a:ext cx="54863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Segoe UI"/>
              </a:rPr>
              <a:t>Imbuhan, persamaan and formal writing require retrieval.</a:t>
            </a:r>
          </a:p>
        </p:txBody>
      </p:sp>
      <p:sp>
        <p:nvSpPr>
          <p:cNvPr id="29" name="Oval 28"/>
          <p:cNvSpPr/>
          <p:nvPr/>
        </p:nvSpPr>
        <p:spPr>
          <a:xfrm>
            <a:off x="5151119" y="5036820"/>
            <a:ext cx="106679" cy="106680"/>
          </a:xfrm>
          <a:prstGeom prst="ellipse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0199" y="4998720"/>
            <a:ext cx="40385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8202B"/>
                </a:solidFill>
                <a:latin typeface="Segoe UI"/>
              </a:rPr>
              <a:t>Progress was invisible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0199" y="5242560"/>
            <a:ext cx="54863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Segoe UI"/>
              </a:rPr>
              <a:t>There was no consistent log of sections, time or attempts.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Solution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4863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PRODUCT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4863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A practice layer over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scattered materials.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316480"/>
            <a:ext cx="54863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KataPult organises prep by what the learner needs to practise, not by where the source material came from.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42759" y="1280160"/>
            <a:ext cx="4724399" cy="3581400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81799" y="1188720"/>
            <a:ext cx="4724399" cy="358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81799" y="1188720"/>
            <a:ext cx="472439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49439" y="1295399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19" y="1295399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199" y="1295399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94319" y="1295399"/>
            <a:ext cx="339851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59" y="1905952"/>
            <a:ext cx="4526279" cy="245173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79119" y="3962399"/>
            <a:ext cx="1203959" cy="1173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759" y="4114800"/>
            <a:ext cx="88391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759" y="4343400"/>
            <a:ext cx="899159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Notes, PDFs,</a:t>
            </a:r>
            <a:br/>
            <a:r>
              <a:rPr sz="919" b="0">
                <a:solidFill>
                  <a:srgbClr val="667085"/>
                </a:solidFill>
                <a:latin typeface="Segoe UI"/>
              </a:rPr>
              <a:t>links, prompts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457700"/>
            <a:ext cx="213359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8A927D"/>
                </a:solidFill>
                <a:latin typeface="Segoe UI"/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26919" y="3962399"/>
            <a:ext cx="1203959" cy="1173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59" y="4114800"/>
            <a:ext cx="88391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Modules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59" y="4343400"/>
            <a:ext cx="899159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Vocabulary,</a:t>
            </a:r>
            <a:br/>
            <a:r>
              <a:rPr sz="919" b="0">
                <a:solidFill>
                  <a:srgbClr val="667085"/>
                </a:solidFill>
                <a:latin typeface="Segoe UI"/>
              </a:rPr>
              <a:t>imbuhan,</a:t>
            </a:r>
            <a:br/>
            <a:r>
              <a:rPr sz="919" b="0">
                <a:solidFill>
                  <a:srgbClr val="667085"/>
                </a:solidFill>
                <a:latin typeface="Segoe UI"/>
              </a:rPr>
              <a:t>persamaan,</a:t>
            </a:r>
            <a:br/>
            <a:r>
              <a:rPr sz="919" b="0">
                <a:solidFill>
                  <a:srgbClr val="667085"/>
                </a:solidFill>
                <a:latin typeface="Segoe UI"/>
              </a:rPr>
              <a:t>writing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2319" y="4457700"/>
            <a:ext cx="213359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8A927D"/>
                </a:solidFill>
                <a:latin typeface="Segoe UI"/>
              </a:rPr>
              <a:t>-&gt;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19" y="3962399"/>
            <a:ext cx="1203959" cy="1173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11879" y="4099560"/>
            <a:ext cx="38099" cy="89916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9519" y="4114800"/>
            <a:ext cx="7467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9519" y="4343400"/>
            <a:ext cx="761999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Drills,</a:t>
            </a:r>
            <a:br/>
            <a:r>
              <a:rPr sz="919" b="0">
                <a:solidFill>
                  <a:srgbClr val="667085"/>
                </a:solidFill>
                <a:latin typeface="Segoe UI"/>
              </a:rPr>
              <a:t>flashcards,</a:t>
            </a:r>
            <a:br/>
            <a:r>
              <a:rPr sz="919" b="0">
                <a:solidFill>
                  <a:srgbClr val="667085"/>
                </a:solidFill>
                <a:latin typeface="Segoe UI"/>
              </a:rPr>
              <a:t>custom 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0119" y="4457700"/>
            <a:ext cx="213359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8A927D"/>
                </a:solidFill>
                <a:latin typeface="Segoe UI"/>
              </a:rPr>
              <a:t>-&gt;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22519" y="3962399"/>
            <a:ext cx="1203959" cy="1173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0159" y="4114800"/>
            <a:ext cx="88391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Signals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90159" y="4343400"/>
            <a:ext cx="899159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Section visits,</a:t>
            </a:r>
            <a:br/>
            <a:r>
              <a:rPr sz="919" b="0">
                <a:solidFill>
                  <a:srgbClr val="667085"/>
                </a:solidFill>
                <a:latin typeface="Segoe UI"/>
              </a:rPr>
              <a:t>time spent,</a:t>
            </a:r>
            <a:br/>
            <a:r>
              <a:rPr sz="919" b="0">
                <a:solidFill>
                  <a:srgbClr val="667085"/>
                </a:solidFill>
                <a:latin typeface="Segoe UI"/>
              </a:rPr>
              <a:t>active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4101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PRACTICE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4101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1,554 drill-ready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questions.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316480"/>
            <a:ext cx="54101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This is the top-line question pool for active drills and daily challenge.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9119" y="2987040"/>
            <a:ext cx="2346959" cy="502920"/>
          </a:xfrm>
          <a:prstGeom prst="roundRect">
            <a:avLst/>
          </a:prstGeom>
          <a:solidFill>
            <a:srgbClr val="1F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279" y="3108960"/>
            <a:ext cx="211835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583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79" y="3291839"/>
            <a:ext cx="21183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Segoe UI"/>
              </a:rPr>
              <a:t>Vocabulary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79" y="2987040"/>
            <a:ext cx="2674619" cy="50292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39" y="3108960"/>
            <a:ext cx="24460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666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39" y="3291839"/>
            <a:ext cx="244601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Segoe UI"/>
              </a:rPr>
              <a:t>Imbuhan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0699" y="2987040"/>
            <a:ext cx="1226819" cy="502920"/>
          </a:xfrm>
          <a:prstGeom prst="roundRect">
            <a:avLst/>
          </a:prstGeom>
          <a:solidFill>
            <a:srgbClr val="C8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7859" y="3108960"/>
            <a:ext cx="9982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305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7859" y="3291839"/>
            <a:ext cx="99821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Segoe UI"/>
              </a:rPr>
              <a:t>Persamaan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19" y="3718560"/>
            <a:ext cx="6278879" cy="243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20" b="1">
                <a:solidFill>
                  <a:srgbClr val="18202B"/>
                </a:solidFill>
                <a:latin typeface="Segoe UI"/>
              </a:rPr>
              <a:t>583 vocabulary + 666 imbuhan + 305 persamaan = 1,554 drill-ready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119" y="4038600"/>
            <a:ext cx="52120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Used by: component drills and daily challenge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26079" y="4465320"/>
            <a:ext cx="3901440" cy="0"/>
          </a:xfrm>
          <a:prstGeom prst="line">
            <a:avLst/>
          </a:prstGeom>
          <a:ln w="3810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26079" y="4373880"/>
            <a:ext cx="0" cy="182879"/>
          </a:xfrm>
          <a:prstGeom prst="line">
            <a:avLst/>
          </a:prstGeom>
          <a:ln w="3810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27519" y="4373880"/>
            <a:ext cx="0" cy="182879"/>
          </a:xfrm>
          <a:prstGeom prst="line">
            <a:avLst/>
          </a:prstGeom>
          <a:ln w="3810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926079" y="4693920"/>
            <a:ext cx="390143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8202B"/>
                </a:solidFill>
                <a:latin typeface="Segoe UI"/>
              </a:rPr>
              <a:t>Custom-test subset: 971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79" y="4953000"/>
            <a:ext cx="3901439" cy="441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666 imbuhan + 305 persamaan. Vocabulary is not part of custom-test mode.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9119" y="5532120"/>
            <a:ext cx="6248399" cy="624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759" y="5730240"/>
            <a:ext cx="2484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Separate revision 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759" y="5943600"/>
            <a:ext cx="58369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Karangan: 297 phrases   |   Surat rasmi: 8 sections   |   Flashcards: 23 sets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199" y="1341120"/>
            <a:ext cx="4190999" cy="4175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1554480"/>
            <a:ext cx="3322319" cy="243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How to read the numbers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79" y="1889759"/>
            <a:ext cx="382524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98079" y="2072640"/>
            <a:ext cx="990599" cy="289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7FAE2D"/>
                </a:solidFill>
                <a:latin typeface="Bahnschrift"/>
              </a:rPr>
              <a:t>1,554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5879" y="2087880"/>
            <a:ext cx="22555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Top-line question pool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5879" y="2316480"/>
            <a:ext cx="2301239" cy="426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All active question items available for drills/daily challenge.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98079" y="2910840"/>
            <a:ext cx="382524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498079" y="3093720"/>
            <a:ext cx="990599" cy="289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7FAE2D"/>
                </a:solidFill>
                <a:latin typeface="Bahnschrift"/>
              </a:rPr>
              <a:t>971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45879" y="3108960"/>
            <a:ext cx="22555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Custom-test bank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45879" y="3337560"/>
            <a:ext cx="2301239" cy="426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Subset of the question pool: imbuhan + persamaan only.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98079" y="3931920"/>
            <a:ext cx="382524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498079" y="4114800"/>
            <a:ext cx="990599" cy="289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F6D78"/>
                </a:solidFill>
                <a:latin typeface="Bahnschrift"/>
              </a:rPr>
              <a:t>separate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45879" y="4130040"/>
            <a:ext cx="22555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Revision resources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5879" y="4358640"/>
            <a:ext cx="2301239" cy="426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Useful learning material, but not counted as custom-test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Feature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4863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COMPONENT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4863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Each module has a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clear practice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316480"/>
            <a:ext cx="54863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The app separates question drills, writing support and recall practice.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8959" y="1249680"/>
            <a:ext cx="4648199" cy="3520439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7999" y="1158240"/>
            <a:ext cx="4648199" cy="352043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7999" y="1158240"/>
            <a:ext cx="464819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25639" y="1264920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08519" y="1264920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91399" y="1264920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70519" y="1264920"/>
            <a:ext cx="332231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4-persama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059" y="1865630"/>
            <a:ext cx="4450079" cy="241046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79119" y="3185160"/>
            <a:ext cx="5608319" cy="2545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999" y="3368040"/>
            <a:ext cx="12191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8A927D"/>
                </a:solidFill>
                <a:latin typeface="Segoe UI"/>
              </a:rPr>
              <a:t>Component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79" y="3368040"/>
            <a:ext cx="1722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8A927D"/>
                </a:solidFill>
                <a:latin typeface="Segoe UI"/>
              </a:rPr>
              <a:t>Practice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519" y="3368040"/>
            <a:ext cx="12496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8A927D"/>
                </a:solidFill>
                <a:latin typeface="Segoe UI"/>
              </a:rPr>
              <a:t>Scale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999" y="3627119"/>
            <a:ext cx="524256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1999" y="3749039"/>
            <a:ext cx="13715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02B"/>
                </a:solidFill>
                <a:latin typeface="Segoe UI"/>
              </a:rPr>
              <a:t>Vocabulary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79" y="3749039"/>
            <a:ext cx="2103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Meaning and usage drills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1519" y="3749039"/>
            <a:ext cx="12496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583 items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1999" y="3947160"/>
            <a:ext cx="524256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1999" y="4069080"/>
            <a:ext cx="13715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02B"/>
                </a:solidFill>
                <a:latin typeface="Segoe UI"/>
              </a:rPr>
              <a:t>Imbuhan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79" y="4069080"/>
            <a:ext cx="2103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Word formation and affixes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1519" y="4069080"/>
            <a:ext cx="12496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666 items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1999" y="4267200"/>
            <a:ext cx="524256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1999" y="4389120"/>
            <a:ext cx="13715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02B"/>
                </a:solidFill>
                <a:latin typeface="Segoe UI"/>
              </a:rPr>
              <a:t>Persamaan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79" y="4389120"/>
            <a:ext cx="2103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Synonym 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1519" y="4389120"/>
            <a:ext cx="12496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305 items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61999" y="4587240"/>
            <a:ext cx="524256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61999" y="4709159"/>
            <a:ext cx="13715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02B"/>
                </a:solidFill>
                <a:latin typeface="Segoe UI"/>
              </a:rPr>
              <a:t>Karangan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79" y="4709159"/>
            <a:ext cx="2103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Formal writing phrases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1519" y="4709159"/>
            <a:ext cx="12496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297 phrases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61999" y="4907280"/>
            <a:ext cx="524256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61999" y="5029200"/>
            <a:ext cx="13715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02B"/>
                </a:solidFill>
                <a:latin typeface="Segoe UI"/>
              </a:rPr>
              <a:t>Surat rasmi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79" y="5029200"/>
            <a:ext cx="2103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Structure and tone reference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1519" y="5029200"/>
            <a:ext cx="12496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8 sections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61999" y="5227320"/>
            <a:ext cx="524256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61999" y="5349240"/>
            <a:ext cx="13715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18202B"/>
                </a:solidFill>
                <a:latin typeface="Segoe UI"/>
              </a:rPr>
              <a:t>Flashcards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79" y="5349240"/>
            <a:ext cx="21031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Recall and spaced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1519" y="5349240"/>
            <a:ext cx="12496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23 sets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7999" y="5090160"/>
            <a:ext cx="4648199" cy="777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995159" y="5227320"/>
            <a:ext cx="38099" cy="50292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62799" y="5242560"/>
            <a:ext cx="41909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Example shown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62799" y="5471160"/>
            <a:ext cx="420623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Persamaan requires synonym retrieval, not rereading.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Features 2-3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7911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FOCUSED DRILLS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7911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Custom tests and daily recall,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side by 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316480"/>
            <a:ext cx="57911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Two practical workflows: targeted weak-area practice and repeatable 5 to 10 minute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9119" y="2819399"/>
            <a:ext cx="2697479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6279" y="2956560"/>
            <a:ext cx="38099" cy="36576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919" y="2971800"/>
            <a:ext cx="22402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Custom test bank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919" y="3200400"/>
            <a:ext cx="2255519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971 question items.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799" y="2819399"/>
            <a:ext cx="2697479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59" y="2956560"/>
            <a:ext cx="38099" cy="36576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5599" y="2971800"/>
            <a:ext cx="22402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Daily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599" y="3200400"/>
            <a:ext cx="2255519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10 questions from the 1,554-item pool.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79" y="3840480"/>
            <a:ext cx="4907279" cy="2362200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9119" y="3749039"/>
            <a:ext cx="4907279" cy="236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9119" y="3749039"/>
            <a:ext cx="490727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6759" y="3855720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639" y="3855720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2519" y="3855720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691639" y="3855720"/>
            <a:ext cx="358139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6-test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027" y="4099560"/>
            <a:ext cx="3629464" cy="196596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461759" y="3840480"/>
            <a:ext cx="5105399" cy="2362200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799" y="3749039"/>
            <a:ext cx="5105399" cy="236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799" y="3749039"/>
            <a:ext cx="510539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68439" y="3855720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51319" y="3855720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34199" y="3855720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13319" y="3855720"/>
            <a:ext cx="377951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07-daily-challe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767" y="4099560"/>
            <a:ext cx="3629464" cy="19659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9119" y="6355080"/>
            <a:ext cx="62788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The point is not more content. It is easier repetition of the right practice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