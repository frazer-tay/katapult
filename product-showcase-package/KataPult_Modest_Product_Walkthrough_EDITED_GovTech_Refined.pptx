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Practice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 dirty="0">
                <a:solidFill>
                  <a:srgbClr val="7FAE2D"/>
                </a:solidFill>
                <a:latin typeface="Segoe UI"/>
              </a:rPr>
              <a:t>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66928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 err="1">
                <a:solidFill>
                  <a:srgbClr val="18202B"/>
                </a:solidFill>
                <a:latin typeface="Bahnschrift"/>
              </a:rPr>
              <a:t>KataPult</a:t>
            </a:r>
            <a:r>
              <a:rPr sz="3400" b="0" dirty="0">
                <a:solidFill>
                  <a:srgbClr val="18202B"/>
                </a:solidFill>
                <a:latin typeface="Bahnschrift"/>
              </a:rPr>
              <a:t>: Bahasa Indo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Practice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A working prototype for short, structured Bahasa Indo revision.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3" y="1078992"/>
            <a:ext cx="5486400" cy="4297680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005840"/>
            <a:ext cx="54864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0" y="1005840"/>
            <a:ext cx="54864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1" y="1115568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82512" y="1115568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65392" y="1115568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1887855"/>
            <a:ext cx="5285232" cy="28628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216" y="5650992"/>
            <a:ext cx="10917936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897880"/>
            <a:ext cx="98755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Bahasa Indo learning materials </a:t>
            </a:r>
            <a:r>
              <a:rPr sz="1300" b="1" dirty="0" err="1">
                <a:solidFill>
                  <a:srgbClr val="18202B"/>
                </a:solidFill>
                <a:latin typeface="Segoe UI"/>
              </a:rPr>
              <a:t>centralised</a:t>
            </a:r>
            <a:r>
              <a:rPr sz="1300" b="1" dirty="0">
                <a:solidFill>
                  <a:srgbClr val="18202B"/>
                </a:solidFill>
                <a:latin typeface="Segoe UI"/>
              </a:rPr>
              <a:t> into one practice companion.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PREPARATION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305452" cy="1536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The hard part was not finding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content. It was </a:t>
            </a:r>
            <a:r>
              <a:rPr lang="en-SG" sz="3400" dirty="0">
                <a:solidFill>
                  <a:srgbClr val="18202B"/>
                </a:solidFill>
                <a:latin typeface="Bahnschrift"/>
              </a:rPr>
              <a:t>gathering relevant materials for practice.</a:t>
            </a:r>
            <a:endParaRPr sz="3400" b="0" dirty="0">
              <a:solidFill>
                <a:srgbClr val="18202B"/>
              </a:solidFill>
              <a:latin typeface="Bahnschrif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dirty="0">
                <a:solidFill>
                  <a:srgbClr val="667085"/>
                </a:solidFill>
                <a:latin typeface="Segoe UI"/>
              </a:rPr>
              <a:t>Learners had notes, screenshots, online references, recall packs and generated practice material, but no c</a:t>
            </a:r>
            <a:r>
              <a:rPr lang="en-SG" sz="1300" b="0" dirty="0" err="1">
                <a:solidFill>
                  <a:srgbClr val="667085"/>
                </a:solidFill>
                <a:latin typeface="Segoe UI"/>
              </a:rPr>
              <a:t>entralised</a:t>
            </a:r>
            <a:r>
              <a:rPr sz="1300" b="0" dirty="0">
                <a:solidFill>
                  <a:srgbClr val="667085"/>
                </a:solidFill>
                <a:latin typeface="Segoe UI"/>
              </a:rPr>
              <a:t> place to </a:t>
            </a:r>
            <a:r>
              <a:rPr lang="en-SG" sz="1300" b="0" dirty="0">
                <a:solidFill>
                  <a:srgbClr val="667085"/>
                </a:solidFill>
                <a:latin typeface="Segoe UI"/>
              </a:rPr>
              <a:t>learn in bite-sized manner</a:t>
            </a:r>
            <a:r>
              <a:rPr sz="1300" b="0" dirty="0">
                <a:solidFill>
                  <a:srgbClr val="667085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4279392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4944" y="4425696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443983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Weak areas were hard to isolate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718304"/>
            <a:ext cx="4800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Imbuhan, persamaan and formal writing need repeated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5065776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4944" y="5212080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5230368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Progress was hard to 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504688"/>
            <a:ext cx="4800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Attempts</a:t>
            </a:r>
            <a:r>
              <a:rPr lang="en-SG" sz="950" b="0" dirty="0">
                <a:solidFill>
                  <a:srgbClr val="667085"/>
                </a:solidFill>
                <a:latin typeface="Segoe UI"/>
              </a:rPr>
              <a:t> and</a:t>
            </a:r>
            <a:r>
              <a:rPr sz="950" b="0" dirty="0">
                <a:solidFill>
                  <a:srgbClr val="667085"/>
                </a:solidFill>
                <a:latin typeface="Segoe UI"/>
              </a:rPr>
              <a:t> mistakes were not easy to track.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335024"/>
            <a:ext cx="4096512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96912" y="1591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Scattered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90195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</a:t>
            </a:r>
            <a:r>
              <a:rPr lang="en-SG" sz="950" b="0" dirty="0">
                <a:solidFill>
                  <a:srgbClr val="667085"/>
                </a:solidFill>
                <a:latin typeface="Segoe UI"/>
              </a:rPr>
              <a:t>Study </a:t>
            </a:r>
            <a:r>
              <a:rPr sz="950" b="0" dirty="0">
                <a:solidFill>
                  <a:srgbClr val="667085"/>
                </a:solidFill>
                <a:latin typeface="Segoe UI"/>
              </a:rPr>
              <a:t>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08483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• Screenshots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26771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Online 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450827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Generated practice material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0" y="2907792"/>
            <a:ext cx="0" cy="493776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86600" y="3493008"/>
            <a:ext cx="4096512" cy="585216"/>
          </a:xfrm>
          <a:prstGeom prst="roundRect">
            <a:avLst/>
          </a:prstGeom>
          <a:solidFill>
            <a:srgbClr val="F9F8F4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3749039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"Where do I </a:t>
            </a:r>
            <a:r>
              <a:rPr lang="en-SG" sz="1300" b="1" dirty="0">
                <a:solidFill>
                  <a:srgbClr val="18202B"/>
                </a:solidFill>
                <a:latin typeface="Segoe UI"/>
              </a:rPr>
              <a:t>start</a:t>
            </a:r>
            <a:r>
              <a:rPr sz="1300" b="1" dirty="0">
                <a:solidFill>
                  <a:srgbClr val="18202B"/>
                </a:solidFill>
                <a:latin typeface="Segoe UI"/>
              </a:rPr>
              <a:t>?"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0" y="4133087"/>
            <a:ext cx="0" cy="484633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86600" y="4709160"/>
            <a:ext cx="4096512" cy="585216"/>
          </a:xfrm>
          <a:prstGeom prst="roundRect">
            <a:avLst/>
          </a:prstGeom>
          <a:solidFill>
            <a:srgbClr val="ECE8D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09560" y="495604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Too much setup before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WHAT KATAPULT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58368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Scattered materials become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short practice 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KataPult centralises relevant learning materials in one place, then routes them into drills, tests, answer feedback and writing-support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54680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55264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38728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63931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Online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22776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Screenshots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407408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Recall packs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91456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Generated practice material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041648"/>
            <a:ext cx="82296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9392" y="3611880"/>
            <a:ext cx="30632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8092" y="386971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dirty="0" err="1">
                <a:solidFill>
                  <a:srgbClr val="7FAE2D"/>
                </a:solidFill>
                <a:latin typeface="Segoe UI"/>
              </a:rPr>
              <a:t>KataPult</a:t>
            </a:r>
            <a:endParaRPr sz="170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74920" y="4151376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organises content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43800" y="4041648"/>
            <a:ext cx="73152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67344" y="3154680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22792" y="3255264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Daily challenge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67344" y="3538728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3639312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Component drills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67344" y="3922776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22792" y="4023360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Custom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7344" y="4306824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22792" y="4407408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Answer feedback and explanations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7344" y="4690872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22792" y="4791456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Writing guides and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Product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PRACTICE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39496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A simple loop keeps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practice </a:t>
            </a:r>
            <a:r>
              <a:rPr lang="en-SG" sz="3400" b="0" dirty="0">
                <a:solidFill>
                  <a:srgbClr val="18202B"/>
                </a:solidFill>
                <a:latin typeface="Bahnschrift"/>
              </a:rPr>
              <a:t>accessible</a:t>
            </a:r>
            <a:r>
              <a:rPr sz="3400" b="0" dirty="0">
                <a:solidFill>
                  <a:srgbClr val="18202B"/>
                </a:solidFill>
                <a:latin typeface="Bahnschrif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Learners can pick a module, practise briefly, see right-or-wrong feedback with an AI-assisted explanation, then return through daily challenge, XP or streaks.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Pick a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Start with the area that needs work.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3784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18104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Practise briefly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104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Use a daily challenge or focused test.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2384" y="5632704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2352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76672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Get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Feedback plus AI explanation.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5632704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Review mistakes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Repeat missed items or continue.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632704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19488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9893808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Return later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8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Use daily challenge, XP or streaks.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48088" y="5632704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99631" y="969264"/>
            <a:ext cx="5376672" cy="4498848"/>
          </a:xfrm>
          <a:prstGeom prst="round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44768" y="896112"/>
            <a:ext cx="5376672" cy="4498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144768" y="896112"/>
            <a:ext cx="5376672" cy="310896"/>
          </a:xfrm>
          <a:prstGeom prst="round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09359" y="100584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2240" y="10058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75120" y="100584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04-imbuhan-real-explanation-focu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1316736"/>
            <a:ext cx="5047488" cy="3931920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6309360" y="5102352"/>
            <a:ext cx="5047488" cy="292608"/>
          </a:xfrm>
          <a:prstGeom prst="roundRect">
            <a:avLst/>
          </a:prstGeom>
          <a:solidFill>
            <a:srgbClr val="EEF6E8"/>
          </a:solidFill>
          <a:ln w="6350">
            <a:solidFill>
              <a:srgbClr val="C6D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7376" y="5189220"/>
            <a:ext cx="4791455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18202B"/>
                </a:solidFill>
                <a:latin typeface="Segoe UI"/>
              </a:rPr>
              <a:t>Actual Imbuhan answer state: feedback plus full explanation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535F73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SG" sz="850" b="0" dirty="0">
                <a:solidFill>
                  <a:srgbClr val="8A927D"/>
                </a:solidFill>
                <a:latin typeface="Segoe UI"/>
              </a:rPr>
              <a:t>Component</a:t>
            </a:r>
            <a:r>
              <a:rPr sz="850" b="0" dirty="0">
                <a:solidFill>
                  <a:srgbClr val="8A927D"/>
                </a:solidFill>
                <a:latin typeface="Segoe UI"/>
              </a:rPr>
              <a:t>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SG" sz="850" b="1" dirty="0">
                <a:solidFill>
                  <a:srgbClr val="7FAE2D"/>
                </a:solidFill>
                <a:latin typeface="Segoe UI"/>
              </a:rPr>
              <a:t>COMPONENT SUMMARY</a:t>
            </a:r>
            <a:endParaRPr sz="85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40080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Each component has a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specific learning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The app separates browsing, typed practice, recall, writing guides and focused tests so learners do not revise from one giant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788920"/>
            <a:ext cx="6473952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944368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94436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Meanings, examples and translations for core word building.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273552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Affix practice: apply prefixes, suffixes and word-form rules correctly.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3209544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" y="3602736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MCQ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602736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Synonym recognition through sentence-context questions.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538728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" y="3931920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Latihan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93192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Typed synonym practice with immediate feedback.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3867912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" y="4261104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261104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Essay vocabulary, phrase banks and definitions for composition writing.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4197096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6384" y="4590288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Essay Recall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59028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Fast recall of openings, conclusions, examples and useful essay phrases.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526279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" y="4919472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Surat Resmi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919472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Formal letter structure, tone, standard phrases and sample responses.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4855464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6384" y="5248656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Custom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5248656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Configurable drills for focused revision on selected components.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" y="5184648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" y="5577840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557784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Streaks, XP and levels that make return practice visible.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8952" y="5513831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62672" y="1975104"/>
            <a:ext cx="3913632" cy="3877056"/>
          </a:xfrm>
          <a:prstGeom prst="round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07808" y="1901952"/>
            <a:ext cx="3913632" cy="3877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07808" y="1901952"/>
            <a:ext cx="3913632" cy="310896"/>
          </a:xfrm>
          <a:prstGeom prst="round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72400" y="201168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55279" y="20116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38160" y="201168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5-essay-recall-focu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322576"/>
            <a:ext cx="3584448" cy="3310128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772400" y="5596128"/>
            <a:ext cx="3566160" cy="292608"/>
          </a:xfrm>
          <a:prstGeom prst="roundRect">
            <a:avLst/>
          </a:prstGeom>
          <a:solidFill>
            <a:srgbClr val="EEF6E8"/>
          </a:solidFill>
          <a:ln w="6350">
            <a:solidFill>
              <a:srgbClr val="C6D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0416" y="5682996"/>
            <a:ext cx="331012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18202B"/>
                </a:solidFill>
                <a:latin typeface="Segoe UI"/>
              </a:rPr>
              <a:t>Essay recall packs show reusable phrases and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 dirty="0">
                <a:solidFill>
                  <a:srgbClr val="7FAE2D"/>
                </a:solidFill>
                <a:latin typeface="Segoe UI"/>
              </a:rPr>
              <a:t>CURRENT </a:t>
            </a:r>
            <a:r>
              <a:rPr lang="en-SG" sz="850" b="1" dirty="0">
                <a:solidFill>
                  <a:srgbClr val="7FAE2D"/>
                </a:solidFill>
                <a:latin typeface="Segoe UI"/>
              </a:rPr>
              <a:t>PROGRESS &amp; FUTURE PLANS</a:t>
            </a:r>
            <a:endParaRPr sz="85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85800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Current state: trialling with users and collecting feedback</a:t>
            </a:r>
            <a:r>
              <a:rPr lang="en-SG" sz="3400" b="0" dirty="0">
                <a:solidFill>
                  <a:srgbClr val="18202B"/>
                </a:solidFill>
                <a:latin typeface="Bahnschrift"/>
              </a:rPr>
              <a:t/>
            </a:r>
            <a:endParaRPr sz="3400" b="0" dirty="0">
              <a:solidFill>
                <a:srgbClr val="18202B"/>
              </a:solidFill>
              <a:latin typeface="Bahnschrif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dirty="0">
                <a:solidFill>
                  <a:srgbClr val="667085"/>
                </a:solidFill>
                <a:latin typeface="Segoe UI"/>
              </a:rPr>
              <a:t>The current numbers show content coverage and early informal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3154680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91840"/>
            <a:ext cx="26426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7FAE2D"/>
                </a:solidFill>
                <a:latin typeface="Bahnschrift"/>
              </a:rPr>
              <a:t>1,554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21608"/>
            <a:ext cx="2642616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active drill-ready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59352"/>
            <a:ext cx="264261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Vocabulary, imbuhan and persamaan question pool.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5493" y="3160698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40085" y="3247449"/>
            <a:ext cx="26426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C88A2C"/>
                </a:solidFill>
                <a:latin typeface="Bahnschrift"/>
              </a:rPr>
              <a:t>10++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0085" y="3677217"/>
            <a:ext cx="2642616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 dirty="0">
                <a:solidFill>
                  <a:srgbClr val="18202B"/>
                </a:solidFill>
                <a:latin typeface="Segoe UI"/>
              </a:rPr>
              <a:t>early informal trial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0085" y="3914961"/>
            <a:ext cx="264261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Enough early use to keep improving.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1816" y="1792224"/>
            <a:ext cx="3886200" cy="2999232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16952" y="1719072"/>
            <a:ext cx="3886200" cy="2999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16952" y="1719072"/>
            <a:ext cx="38862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81544" y="1828800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64424" y="1828800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47304" y="1828800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6" y="2385250"/>
            <a:ext cx="3685032" cy="1996059"/>
          </a:xfrm>
          <a:prstGeom prst="rect">
            <a:avLst/>
          </a:prstGeom>
        </p:spPr>
      </p:pic>
      <p:sp>
        <p:nvSpPr>
          <p:cNvPr id="34" name="Rounded Rectangle 8"/>
          <p:cNvSpPr/>
          <p:nvPr/>
        </p:nvSpPr>
        <p:spPr>
          <a:xfrm>
            <a:off x="53050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9"/>
          <p:cNvSpPr/>
          <p:nvPr/>
        </p:nvSpPr>
        <p:spPr>
          <a:xfrm>
            <a:off x="640237" y="5162682"/>
            <a:ext cx="36576" cy="950976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829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Content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829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Review collected items and AI-assisted explanations before treating them as validated material.</a:t>
            </a:r>
          </a:p>
        </p:txBody>
      </p:sp>
      <p:sp>
        <p:nvSpPr>
          <p:cNvPr id="38" name="Rounded Rectangle 12"/>
          <p:cNvSpPr/>
          <p:nvPr/>
        </p:nvSpPr>
        <p:spPr>
          <a:xfrm>
            <a:off x="423382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13"/>
          <p:cNvSpPr/>
          <p:nvPr/>
        </p:nvSpPr>
        <p:spPr>
          <a:xfrm>
            <a:off x="4343557" y="5162682"/>
            <a:ext cx="36576" cy="950976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08148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User feedback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8148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Collect what learners find useful, confusing or missing during real use.</a:t>
            </a:r>
          </a:p>
        </p:txBody>
      </p:sp>
      <p:sp>
        <p:nvSpPr>
          <p:cNvPr id="42" name="Rounded Rectangle 16"/>
          <p:cNvSpPr/>
          <p:nvPr/>
        </p:nvSpPr>
        <p:spPr>
          <a:xfrm>
            <a:off x="793714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7"/>
          <p:cNvSpPr/>
          <p:nvPr/>
        </p:nvSpPr>
        <p:spPr>
          <a:xfrm>
            <a:off x="8046876" y="5162682"/>
            <a:ext cx="36576" cy="950976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11469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Iterative refinement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469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Use learner feedback and usage patterns to improve the most-used modules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538</Words>
  <Application>Microsoft Office PowerPoint</Application>
  <PresentationFormat>Widescreen</PresentationFormat>
  <Paragraphs>107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Frazer Tay</dc:creator>
  <cp:keywords/>
  <dc:description>generated using python-pptx</dc:description>
  <cp:lastModifiedBy>TAY CHUN ARN (MINDEF)</cp:lastModifiedBy>
  <cp:revision>2</cp:revision>
  <dcterms:created xsi:type="dcterms:W3CDTF">2013-01-27T09:14:16Z</dcterms:created>
  <dcterms:modified xsi:type="dcterms:W3CDTF">2026-05-06T13:31:39Z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2e6ea9-9cb8-4ed1-a301-1de5a8b79906_Enabled">
    <vt:lpwstr>true</vt:lpwstr>
  </property>
  <property fmtid="{D5CDD505-2E9C-101B-9397-08002B2CF9AE}" pid="3" name="MSIP_Label_2e2e6ea9-9cb8-4ed1-a301-1de5a8b79906_SetDate">
    <vt:lpwstr>2026-05-06T13:31:39Z</vt:lpwstr>
  </property>
  <property fmtid="{D5CDD505-2E9C-101B-9397-08002B2CF9AE}" pid="4" name="MSIP_Label_2e2e6ea9-9cb8-4ed1-a301-1de5a8b79906_Method">
    <vt:lpwstr>Standard</vt:lpwstr>
  </property>
  <property fmtid="{D5CDD505-2E9C-101B-9397-08002B2CF9AE}" pid="5" name="MSIP_Label_2e2e6ea9-9cb8-4ed1-a301-1de5a8b79906_Name">
    <vt:lpwstr>Restricted Non-Sensitive</vt:lpwstr>
  </property>
  <property fmtid="{D5CDD505-2E9C-101B-9397-08002B2CF9AE}" pid="6" name="MSIP_Label_2e2e6ea9-9cb8-4ed1-a301-1de5a8b79906_SiteId">
    <vt:lpwstr>17558ced-9068-439c-bdf1-fe9f9e07f45e</vt:lpwstr>
  </property>
  <property fmtid="{D5CDD505-2E9C-101B-9397-08002B2CF9AE}" pid="7" name="MSIP_Label_2e2e6ea9-9cb8-4ed1-a301-1de5a8b79906_ActionId">
    <vt:lpwstr>6051da7b-21cf-4470-9dcb-f98372c3e3bf</vt:lpwstr>
  </property>
  <property fmtid="{D5CDD505-2E9C-101B-9397-08002B2CF9AE}" pid="8" name="MSIP_Label_2e2e6ea9-9cb8-4ed1-a301-1de5a8b79906_ContentBits">
    <vt:lpwstr>0</vt:lpwstr>
  </property>
  <property fmtid="{D5CDD505-2E9C-101B-9397-08002B2CF9AE}" pid="9" name="MSIP_Label_2e2e6ea9-9cb8-4ed1-a301-1de5a8b79906_Tag">
    <vt:lpwstr>10, 3, 0, 1</vt:lpwstr>
  </property>
</Properties>
</file>