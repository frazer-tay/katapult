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Bahasa I2 Prep Companion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863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PRODUCT CASE STUDY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86399" cy="1417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Structured Bahasa I2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practice, not another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folder of notes.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788920"/>
            <a:ext cx="54863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KataPult turns collected materials into short, repeatable drills by exam component.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52259" y="1234439"/>
            <a:ext cx="4914899" cy="381000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91299" y="1143000"/>
            <a:ext cx="4914899" cy="38100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91299" y="1143000"/>
            <a:ext cx="49148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58939" y="124968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1819" y="124968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124699" y="124968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03819" y="1249680"/>
            <a:ext cx="35890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359" y="1922938"/>
            <a:ext cx="4716779" cy="2554922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548639" y="5852160"/>
            <a:ext cx="2788920" cy="0"/>
          </a:xfrm>
          <a:prstGeom prst="line">
            <a:avLst/>
          </a:prstGeom>
          <a:ln w="38100">
            <a:solidFill>
              <a:srgbClr val="7FAE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39" y="6065520"/>
            <a:ext cx="79247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Simple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2079" y="6065520"/>
            <a:ext cx="48463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Pick a component. Practise. Review. Continue later.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9435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PREPARATION REALITY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9435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The friction was restarting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practice consistently.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9435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The content was already there. The missing part was a structured way to turn it into repeatable exam practice.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59" y="328421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Notes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20239" y="338328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70559" y="368045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PDFs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20239" y="3779519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0559" y="407669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Screenshots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39" y="417576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70559" y="4472940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Links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39" y="457200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0559" y="4869179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Quizlet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920239" y="496824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70559" y="5265420"/>
            <a:ext cx="1188719" cy="20573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LLM prompts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920239" y="5364480"/>
            <a:ext cx="2179320" cy="0"/>
          </a:xfrm>
          <a:prstGeom prst="line">
            <a:avLst/>
          </a:prstGeom>
          <a:ln w="1524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739639" y="3017520"/>
            <a:ext cx="0" cy="2621279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66359" y="3276600"/>
            <a:ext cx="3368039" cy="259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18202B"/>
                </a:solidFill>
                <a:latin typeface="Segoe UI"/>
              </a:rPr>
              <a:t>What kept breaking</a:t>
            </a:r>
          </a:p>
        </p:txBody>
      </p:sp>
      <p:sp>
        <p:nvSpPr>
          <p:cNvPr id="23" name="Oval 22"/>
          <p:cNvSpPr/>
          <p:nvPr/>
        </p:nvSpPr>
        <p:spPr>
          <a:xfrm>
            <a:off x="5151119" y="3848099"/>
            <a:ext cx="106679" cy="106680"/>
          </a:xfrm>
          <a:prstGeom prst="ellipse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10199" y="3810000"/>
            <a:ext cx="40385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8202B"/>
                </a:solidFill>
                <a:latin typeface="Segoe UI"/>
              </a:rPr>
              <a:t>No fixed practice path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0199" y="4053840"/>
            <a:ext cx="54863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Learners had to decide where to restart each time.</a:t>
            </a:r>
          </a:p>
        </p:txBody>
      </p:sp>
      <p:sp>
        <p:nvSpPr>
          <p:cNvPr id="26" name="Oval 25"/>
          <p:cNvSpPr/>
          <p:nvPr/>
        </p:nvSpPr>
        <p:spPr>
          <a:xfrm>
            <a:off x="5151119" y="4442460"/>
            <a:ext cx="106679" cy="106680"/>
          </a:xfrm>
          <a:prstGeom prst="ellipse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10199" y="4404360"/>
            <a:ext cx="40385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8202B"/>
                </a:solidFill>
                <a:latin typeface="Segoe UI"/>
              </a:rPr>
              <a:t>Weak areas needed drilling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0199" y="4648200"/>
            <a:ext cx="54863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Imbuhan, persamaan and formal writing require retrieval.</a:t>
            </a:r>
          </a:p>
        </p:txBody>
      </p:sp>
      <p:sp>
        <p:nvSpPr>
          <p:cNvPr id="29" name="Oval 28"/>
          <p:cNvSpPr/>
          <p:nvPr/>
        </p:nvSpPr>
        <p:spPr>
          <a:xfrm>
            <a:off x="5151119" y="5036820"/>
            <a:ext cx="106679" cy="106680"/>
          </a:xfrm>
          <a:prstGeom prst="ellipse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10199" y="4998720"/>
            <a:ext cx="40385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18202B"/>
                </a:solidFill>
                <a:latin typeface="Segoe UI"/>
              </a:rPr>
              <a:t>Progress was invisible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0199" y="5242560"/>
            <a:ext cx="54863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667085"/>
                </a:solidFill>
                <a:latin typeface="Segoe UI"/>
              </a:rPr>
              <a:t>There was no consistent log of sections, time or attempts.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Solution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863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PRODUCT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863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A practice layer over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scattered materials.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4863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KataPult organises prep by what the learner needs to practise, not by where the source material came from.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2759" y="1280160"/>
            <a:ext cx="4724399" cy="358140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81799" y="1188720"/>
            <a:ext cx="4724399" cy="3581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81799" y="1188720"/>
            <a:ext cx="47243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49439" y="1295399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19" y="1295399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199" y="1295399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94319" y="1295399"/>
            <a:ext cx="33985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59" y="1905952"/>
            <a:ext cx="4526279" cy="2451735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579119" y="3962399"/>
            <a:ext cx="1203959" cy="1173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759" y="4114800"/>
            <a:ext cx="8839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Inputs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6759" y="4343400"/>
            <a:ext cx="899159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Notes, PDFs,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links, prompts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4457700"/>
            <a:ext cx="213359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A927D"/>
                </a:solidFill>
                <a:latin typeface="Segoe UI"/>
              </a:rPr>
              <a:t>-&gt;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26919" y="3962399"/>
            <a:ext cx="1203959" cy="1173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94559" y="4114800"/>
            <a:ext cx="8839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Modules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59" y="4343400"/>
            <a:ext cx="899159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Vocabulary,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imbuhan,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persamaan,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writing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22319" y="4457700"/>
            <a:ext cx="213359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A927D"/>
                </a:solidFill>
                <a:latin typeface="Segoe UI"/>
              </a:rPr>
              <a:t>-&gt;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19" y="3962399"/>
            <a:ext cx="1203959" cy="1173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11879" y="4099560"/>
            <a:ext cx="38099" cy="8991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79519" y="4114800"/>
            <a:ext cx="7467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79519" y="4343400"/>
            <a:ext cx="761999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Drills,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flashcards,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custom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0119" y="4457700"/>
            <a:ext cx="213359" cy="2667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A927D"/>
                </a:solidFill>
                <a:latin typeface="Segoe UI"/>
              </a:rPr>
              <a:t>-&gt;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22519" y="3962399"/>
            <a:ext cx="1203959" cy="1173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0159" y="4114800"/>
            <a:ext cx="8839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Signals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90159" y="4343400"/>
            <a:ext cx="899159" cy="6705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Section visits,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time spent,</a:t>
            </a:r>
            <a:br/>
            <a:r>
              <a:rPr sz="919" b="0">
                <a:solidFill>
                  <a:srgbClr val="667085"/>
                </a:solidFill>
                <a:latin typeface="Segoe UI"/>
              </a:rPr>
              <a:t>active days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10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PRACTICE BANK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101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The pools are separated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by purpose.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4101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This is the clean way to explain the question-count math without making the total look inflated.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9119" y="2987040"/>
            <a:ext cx="1874519" cy="1173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3108960"/>
            <a:ext cx="1569719" cy="335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7FAE2D"/>
                </a:solidFill>
                <a:latin typeface="Bahnschrift"/>
              </a:rPr>
              <a:t>1,554*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474720"/>
            <a:ext cx="15697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drill / daily pool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3703320"/>
            <a:ext cx="156971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583 vocabulary + 666 imbuhan + 305 persamaan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82239" y="2987040"/>
            <a:ext cx="1874519" cy="1173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39" y="3108960"/>
            <a:ext cx="1569719" cy="335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7FAE2D"/>
                </a:solidFill>
                <a:latin typeface="Bahnschrift"/>
              </a:rPr>
              <a:t>971**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39" y="3474720"/>
            <a:ext cx="15697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custom-test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39" y="3703320"/>
            <a:ext cx="156971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666 imbuhan + 305 persamaan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5359" y="2987040"/>
            <a:ext cx="1874519" cy="11734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59" y="3108960"/>
            <a:ext cx="1569719" cy="3352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2400" b="0">
                <a:solidFill>
                  <a:srgbClr val="7FAE2D"/>
                </a:solidFill>
                <a:latin typeface="Bahnschrif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59" y="3474720"/>
            <a:ext cx="156971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revision surfaces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59" y="3703320"/>
            <a:ext cx="1569719" cy="3505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750" b="0">
                <a:solidFill>
                  <a:srgbClr val="667085"/>
                </a:solidFill>
                <a:latin typeface="Segoe UI"/>
              </a:rPr>
              <a:t>Karangan, surat rasmi and flashcards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119" y="4632960"/>
            <a:ext cx="59740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* 583 + 666 + 305 = 1,554.   ** 666 + 305 = 971.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119" y="4937759"/>
            <a:ext cx="5867399" cy="4876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Custom tests are smaller because they only use components already structured as question items.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199" y="1173480"/>
            <a:ext cx="4190999" cy="41452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1386840"/>
            <a:ext cx="14935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8A927D"/>
                </a:solidFill>
                <a:latin typeface="Segoe UI"/>
              </a:rPr>
              <a:t>Component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7799" y="1386840"/>
            <a:ext cx="7924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8A927D"/>
                </a:solidFill>
                <a:latin typeface="Segoe UI"/>
              </a:rPr>
              <a:t>Scale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79" y="1386840"/>
            <a:ext cx="13258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8A927D"/>
                </a:solidFill>
                <a:latin typeface="Segoe UI"/>
              </a:rPr>
              <a:t>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82839" y="1615440"/>
            <a:ext cx="3855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498079" y="1783080"/>
            <a:ext cx="14935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Vocabulary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67799" y="1783080"/>
            <a:ext cx="838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583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79" y="1783080"/>
            <a:ext cx="1371599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Drill / daily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82839" y="2118360"/>
            <a:ext cx="3855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498079" y="2286000"/>
            <a:ext cx="14935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Imbuhan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7799" y="2286000"/>
            <a:ext cx="838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666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79" y="2286000"/>
            <a:ext cx="1371599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Drill / daily + custom test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82839" y="2621280"/>
            <a:ext cx="3855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98079" y="2788920"/>
            <a:ext cx="14935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Persamaan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67799" y="2788920"/>
            <a:ext cx="838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305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12679" y="2788920"/>
            <a:ext cx="1371599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Drill / daily + custom test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482839" y="3124200"/>
            <a:ext cx="3855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498079" y="3291839"/>
            <a:ext cx="14935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Karangan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67799" y="3291839"/>
            <a:ext cx="838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297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79" y="3291839"/>
            <a:ext cx="1371599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Writing phrases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7482839" y="3627119"/>
            <a:ext cx="3855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498079" y="3794760"/>
            <a:ext cx="14935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Surat rasmi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7799" y="3794760"/>
            <a:ext cx="838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8 sections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12679" y="3794760"/>
            <a:ext cx="1371599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Templates / structure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482839" y="4130040"/>
            <a:ext cx="3855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498079" y="4297680"/>
            <a:ext cx="149351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Flashcards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67799" y="4297680"/>
            <a:ext cx="838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23 sets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12679" y="4297680"/>
            <a:ext cx="1371599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Recall /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Feature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410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COMPONENT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4101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Learners can go straight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to the weak area.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4101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The home screen is a routing surface: each path maps to a specific Bahasa I2 prep need.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59" y="1066800"/>
            <a:ext cx="5029199" cy="347472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76999" y="975360"/>
            <a:ext cx="5029199" cy="34747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76999" y="975360"/>
            <a:ext cx="50291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44639" y="108204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27519" y="108204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10399" y="108204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19" y="1082040"/>
            <a:ext cx="37033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-persama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059" y="1556702"/>
            <a:ext cx="4831079" cy="2616835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579119" y="3322320"/>
            <a:ext cx="236220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79119" y="3444240"/>
            <a:ext cx="11429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Vocabulary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79" y="3444240"/>
            <a:ext cx="10210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Meaning and usage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59" y="3444240"/>
            <a:ext cx="518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583 items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322319" y="3322320"/>
            <a:ext cx="236220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322319" y="3444240"/>
            <a:ext cx="11429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Imbuhan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3444240"/>
            <a:ext cx="10210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Word 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59" y="3444240"/>
            <a:ext cx="518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666 items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9119" y="3962399"/>
            <a:ext cx="236220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79119" y="4084319"/>
            <a:ext cx="11429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Persamaan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83079" y="4084319"/>
            <a:ext cx="10210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Synonym precision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59" y="4084319"/>
            <a:ext cx="518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305 items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322319" y="3962399"/>
            <a:ext cx="236220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322319" y="4084319"/>
            <a:ext cx="11429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Karangan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79" y="4084319"/>
            <a:ext cx="10210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Formal phrases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59" y="4084319"/>
            <a:ext cx="518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297 phrases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9119" y="4602480"/>
            <a:ext cx="236220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79119" y="4724400"/>
            <a:ext cx="11429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Surat rasmi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79" y="4724400"/>
            <a:ext cx="10210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Structure and tone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23159" y="4724400"/>
            <a:ext cx="518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8 sections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322319" y="4602480"/>
            <a:ext cx="236220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322319" y="4724400"/>
            <a:ext cx="11429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18202B"/>
                </a:solidFill>
                <a:latin typeface="Segoe UI"/>
              </a:rPr>
              <a:t>Flashcards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79" y="4724400"/>
            <a:ext cx="10210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667085"/>
                </a:solidFill>
                <a:latin typeface="Segoe UI"/>
              </a:rPr>
              <a:t>Recall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59" y="4724400"/>
            <a:ext cx="51815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7FAE2D"/>
                </a:solidFill>
                <a:latin typeface="Segoe UI"/>
              </a:rPr>
              <a:t>23 sets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Features 2-3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791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FOCUSED DRILLS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7911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Custom tests and daily recall,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side by side.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7911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Two practical workflows: targeted weak-area practice and repeatable 5 to 10 minute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9119" y="2819399"/>
            <a:ext cx="2697479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6279" y="2956560"/>
            <a:ext cx="38099" cy="3657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3919" y="2971800"/>
            <a:ext cx="22402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Custom test bank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19" y="3200400"/>
            <a:ext cx="2255519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971 question items.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799" y="2819399"/>
            <a:ext cx="2697479" cy="6400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59" y="2956560"/>
            <a:ext cx="38099" cy="3657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05599" y="2971800"/>
            <a:ext cx="22402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Daily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599" y="3200400"/>
            <a:ext cx="2255519" cy="1371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10 questions from the 1,554-item pool.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79" y="3840480"/>
            <a:ext cx="4907279" cy="236220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9119" y="3749039"/>
            <a:ext cx="4907279" cy="236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9119" y="3749039"/>
            <a:ext cx="490727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6759" y="385572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9639" y="385572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12519" y="385572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691639" y="3855720"/>
            <a:ext cx="358139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06-test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27" y="4099560"/>
            <a:ext cx="3629464" cy="196596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6461759" y="3840480"/>
            <a:ext cx="5105399" cy="236220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799" y="3749039"/>
            <a:ext cx="5105399" cy="23622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799" y="3749039"/>
            <a:ext cx="51053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68439" y="385572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751319" y="385572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34199" y="385572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13319" y="3855720"/>
            <a:ext cx="37795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7-daily-challe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67" y="4099560"/>
            <a:ext cx="3629464" cy="19659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79119" y="6355080"/>
            <a:ext cx="627887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Segoe UI"/>
              </a:rPr>
              <a:t>The point is not more content. It is easier repetition of the right practice task.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39" y="563880"/>
            <a:ext cx="11094720" cy="0"/>
          </a:xfrm>
          <a:prstGeom prst="line">
            <a:avLst/>
          </a:prstGeom>
          <a:ln w="12700">
            <a:solidFill>
              <a:srgbClr val="D8D3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39" y="320040"/>
            <a:ext cx="7467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KataPult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0639" y="320040"/>
            <a:ext cx="37185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27D"/>
                </a:solidFill>
                <a:latin typeface="Segoe UI"/>
              </a:rPr>
              <a:t>Demo and Measurement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399" y="320040"/>
            <a:ext cx="441959" cy="167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1000" b="1">
                <a:solidFill>
                  <a:srgbClr val="8A927D"/>
                </a:solidFill>
                <a:latin typeface="Segoe U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39" y="960120"/>
            <a:ext cx="5791199" cy="1828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00" b="1">
                <a:solidFill>
                  <a:srgbClr val="7FAE2D"/>
                </a:solidFill>
                <a:latin typeface="Segoe UI"/>
              </a:rPr>
              <a:t>DEMO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234439"/>
            <a:ext cx="5791199" cy="94487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3400" b="0">
                <a:solidFill>
                  <a:srgbClr val="18202B"/>
                </a:solidFill>
                <a:latin typeface="Bahnschrift"/>
              </a:rPr>
              <a:t>A short demo,</a:t>
            </a:r>
            <a:br/>
            <a:r>
              <a:rPr sz="3400" b="0">
                <a:solidFill>
                  <a:srgbClr val="18202B"/>
                </a:solidFill>
                <a:latin typeface="Bahnschrift"/>
              </a:rPr>
              <a:t>with measured follow-up.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2316480"/>
            <a:ext cx="5791199" cy="6400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350" b="0">
                <a:solidFill>
                  <a:srgbClr val="667085"/>
                </a:solidFill>
                <a:latin typeface="Segoe UI"/>
              </a:rPr>
              <a:t>Keep it practical: one learner, one weak area, one short practice session.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5319" y="2651760"/>
            <a:ext cx="289559" cy="2895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5319" y="2720340"/>
            <a:ext cx="289559" cy="1752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2999" y="2636520"/>
            <a:ext cx="3581399" cy="2209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Open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2999" y="2872740"/>
            <a:ext cx="4648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40" b="0">
                <a:solidFill>
                  <a:srgbClr val="667085"/>
                </a:solidFill>
                <a:latin typeface="Segoe UI"/>
              </a:rPr>
              <a:t>Show modules, streak and recommended path.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5319" y="3185160"/>
            <a:ext cx="289559" cy="2895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19" y="3253740"/>
            <a:ext cx="289559" cy="1752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2999" y="3169919"/>
            <a:ext cx="3581399" cy="2209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Pick a weak area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2999" y="3406139"/>
            <a:ext cx="4648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40" b="0">
                <a:solidFill>
                  <a:srgbClr val="667085"/>
                </a:solidFill>
                <a:latin typeface="Segoe UI"/>
              </a:rPr>
              <a:t>Use imbuhan or persamaan to make the flow concrete.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319" y="3718560"/>
            <a:ext cx="289559" cy="2895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19" y="3787140"/>
            <a:ext cx="289559" cy="1752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2999" y="3703320"/>
            <a:ext cx="3581399" cy="2209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Run a short drill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2999" y="3939540"/>
            <a:ext cx="4648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40" b="0">
                <a:solidFill>
                  <a:srgbClr val="667085"/>
                </a:solidFill>
                <a:latin typeface="Segoe UI"/>
              </a:rPr>
              <a:t>Use 5 or 10 questions; show feedback.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319" y="4251960"/>
            <a:ext cx="289559" cy="2895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19" y="4320540"/>
            <a:ext cx="289559" cy="1752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2999" y="4236720"/>
            <a:ext cx="3581399" cy="2209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Review flashcards or phrases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2999" y="4472940"/>
            <a:ext cx="4648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40" b="0">
                <a:solidFill>
                  <a:srgbClr val="667085"/>
                </a:solidFill>
                <a:latin typeface="Segoe UI"/>
              </a:rPr>
              <a:t>Show how revision continues outside test mode.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319" y="4785360"/>
            <a:ext cx="289559" cy="2895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19" y="4853939"/>
            <a:ext cx="289559" cy="1752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2999" y="4770120"/>
            <a:ext cx="3581399" cy="2209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18202B"/>
                </a:solidFill>
                <a:latin typeface="Segoe UI"/>
              </a:rPr>
              <a:t>Check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2999" y="5006340"/>
            <a:ext cx="4648199" cy="198119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40" b="0">
                <a:solidFill>
                  <a:srgbClr val="667085"/>
                </a:solidFill>
                <a:latin typeface="Segoe UI"/>
              </a:rPr>
              <a:t>Show section visits and time spent once data accumulates.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42759" y="1203960"/>
            <a:ext cx="4724399" cy="3017520"/>
          </a:xfrm>
          <a:prstGeom prst="roundRect">
            <a:avLst/>
          </a:prstGeom>
          <a:solidFill>
            <a:srgbClr val="E1D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81799" y="1112520"/>
            <a:ext cx="4724399" cy="30175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81799" y="1112520"/>
            <a:ext cx="4724399" cy="304800"/>
          </a:xfrm>
          <a:prstGeom prst="round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49439" y="1219200"/>
            <a:ext cx="91439" cy="91440"/>
          </a:xfrm>
          <a:prstGeom prst="ellipse">
            <a:avLst/>
          </a:prstGeom>
          <a:solidFill>
            <a:srgbClr val="E36F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132319" y="1219200"/>
            <a:ext cx="91439" cy="91440"/>
          </a:xfrm>
          <a:prstGeom prst="ellipse">
            <a:avLst/>
          </a:prstGeom>
          <a:solidFill>
            <a:srgbClr val="E2B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315199" y="1219200"/>
            <a:ext cx="91439" cy="91440"/>
          </a:xfrm>
          <a:prstGeom prst="ellipse">
            <a:avLst/>
          </a:prstGeom>
          <a:solidFill>
            <a:srgbClr val="55B9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94319" y="1219200"/>
            <a:ext cx="3398519" cy="99059"/>
          </a:xfrm>
          <a:prstGeom prst="roundRect">
            <a:avLst/>
          </a:prstGeom>
          <a:solidFill>
            <a:srgbClr val="D7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01-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859" y="1547812"/>
            <a:ext cx="4526279" cy="2451735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6781799" y="4541520"/>
            <a:ext cx="4724399" cy="944879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18959" y="4678680"/>
            <a:ext cx="38099" cy="670560"/>
          </a:xfrm>
          <a:prstGeom prst="roundRect">
            <a:avLst/>
          </a:prstGeom>
          <a:solidFill>
            <a:srgbClr val="7FA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6599" y="4693920"/>
            <a:ext cx="4267199" cy="2133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1050" b="1">
                <a:solidFill>
                  <a:srgbClr val="18202B"/>
                </a:solidFill>
                <a:latin typeface="Segoe UI"/>
              </a:rPr>
              <a:t>Use measured evidence carefully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86599" y="4922520"/>
            <a:ext cx="4282439" cy="4419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sz="919" b="0">
                <a:solidFill>
                  <a:srgbClr val="667085"/>
                </a:solidFill>
                <a:latin typeface="Segoe UI"/>
              </a:rPr>
              <a:t>For now, keep impact language modest. Report actual usage after a defined tracking window rather than overstating adoption.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