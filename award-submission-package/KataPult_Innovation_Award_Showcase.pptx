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1" Type="http://schemas.openxmlformats.org/officeDocument/2006/relationships/image" Target="../media/image_s1_1.png"/></Relationships>
</file>

<file path=ppt/slides/_rels/slide2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1" Type="http://schemas.openxmlformats.org/officeDocument/2006/relationships/image" Target="../media/image_s3_1.png"/></Relationships>
</file>

<file path=ppt/slides/_rels/slide4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1" Type="http://schemas.openxmlformats.org/officeDocument/2006/relationships/image" Target="../media/image_s4_1.png"/><Relationship Id="rId2" Type="http://schemas.openxmlformats.org/officeDocument/2006/relationships/image" Target="../media/image_s4_2.png"/><Relationship Id="rId3" Type="http://schemas.openxmlformats.org/officeDocument/2006/relationships/image" Target="../media/image_s4_3.png"/></Relationships>
</file>

<file path=ppt/slides/_rels/slide5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1" Type="http://schemas.openxmlformats.org/officeDocument/2006/relationships/image" Target="../media/image_s5_1.png"/><Relationship Id="rId2" Type="http://schemas.openxmlformats.org/officeDocument/2006/relationships/image" Target="../media/image_s5_2.png"/><Relationship Id="rId3" Type="http://schemas.openxmlformats.org/officeDocument/2006/relationships/image" Target="../media/image_s5_3.png"/></Relationships>
</file>

<file path=ppt/slides/_rels/slide6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1" Type="http://schemas.openxmlformats.org/officeDocument/2006/relationships/image" Target="../media/image_s6_1.png"/><Relationship Id="rId2" Type="http://schemas.openxmlformats.org/officeDocument/2006/relationships/image" Target="../media/image_s6_2.png"/></Relationships>
</file>

<file path=ppt/slides/_rels/slide7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00" Type="http://schemas.openxmlformats.org/officeDocument/2006/relationships/slideLayout" Target="../slideLayouts/slideLayout1.xml"/><Relationship Id="rId1" Type="http://schemas.openxmlformats.org/officeDocument/2006/relationships/image" Target="../media/image_s10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FE8"/>
          </a:solidFill>
          <a:ln w="12700">
            <a:solidFill>
              <a:srgbClr val="6D4FE8"/>
            </a:solidFill>
          </a:ln>
        </p:spPr>
        <p:txBody>
          <a:bodyPr/>
          <a:lstStyle/>
          <a:p/>
        </p:txBody>
      </p:sp>
      <p:sp>
        <p:nvSpPr>
          <p:cNvPr id="4" name="Shape 4"/>
          <p:cNvSpPr txBox="1"/>
          <p:nvPr/>
        </p:nvSpPr>
        <p:spPr>
          <a:xfrm>
            <a:off x="594360" y="658368"/>
            <a:ext cx="5349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800" b="1">
                <a:solidFill>
                  <a:srgbClr val="17105A"/>
                </a:solidFill>
                <a:latin typeface="Aptos"/>
              </a:rPr>
              <a:t>KataPult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12648" y="1143000"/>
            <a:ext cx="5349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6D4FE8"/>
                </a:solidFill>
                <a:latin typeface="Aptos"/>
              </a:rPr>
              <a:t>Bahasa Prep Companion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94360" y="1874519"/>
            <a:ext cx="5212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3000" b="1">
                <a:solidFill>
                  <a:srgbClr val="17105A"/>
                </a:solidFill>
                <a:latin typeface="Aptos"/>
              </a:rPr>
              <a:t>From scattered exam notes to measurable daily practice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21792" y="3246120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A modular, gamified platform built to help learners prepare for Bahasa Indonesia I2 through focused drills, active recall, and learning analytics.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21792" y="4251960"/>
            <a:ext cx="1554480" cy="384048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F3EEFF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000" b="1">
                <a:solidFill>
                  <a:srgbClr val="6D4FE8"/>
                </a:solidFill>
                <a:latin typeface="Aptos"/>
              </a:rPr>
              <a:t>Innovation Award Demo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331720" y="4251960"/>
            <a:ext cx="1234440" cy="384048"/>
          </a:xfrm>
          <a:prstGeom prst="roundRect">
            <a:avLst/>
          </a:prstGeom>
          <a:solidFill>
            <a:srgbClr val="DDF8F8"/>
          </a:solidFill>
          <a:ln w="12700">
            <a:solidFill>
              <a:srgbClr val="DDF8F8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000" b="1">
                <a:solidFill>
                  <a:srgbClr val="007C89"/>
                </a:solidFill>
                <a:latin typeface="Aptos"/>
              </a:rPr>
              <a:t>Live app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58368"/>
            <a:ext cx="5760720" cy="5074920"/>
          </a:xfrm>
          <a:prstGeom prst="rect">
            <a:avLst/>
          </a:prstGeom>
        </p:spPr>
      </p:pic>
      <p:sp>
        <p:nvSpPr>
          <p:cNvPr id="901" name="Shape 901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713232"/>
            <a:ext cx="5577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500" b="1">
                <a:solidFill>
                  <a:srgbClr val="17105A"/>
                </a:solidFill>
                <a:latin typeface="Aptos"/>
              </a:rPr>
              <a:t>The exam-prep gap was not content availability. It was practice quality.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94360" y="1536192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6" name="Shape 6"/>
          <p:cNvSpPr txBox="1"/>
          <p:nvPr/>
        </p:nvSpPr>
        <p:spPr>
          <a:xfrm>
            <a:off x="868680" y="181051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17105A"/>
                </a:solidFill>
                <a:latin typeface="Aptos"/>
              </a:rPr>
              <a:t>What made prep hard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96112" y="228600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Materials were scattered across notes, screenshots, links, and ad hoc quizzes.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Weak spots like imbuhan, persamaan, and formal-writing phrases need repeated retrieval, not passive reading.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Busy learners needed 5-10 minute drills that fit around work, not long study blocks.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343400" y="1536192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9" name="Shape 9"/>
          <p:cNvSpPr txBox="1"/>
          <p:nvPr/>
        </p:nvSpPr>
        <p:spPr>
          <a:xfrm>
            <a:off x="4617720" y="181051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17105A"/>
                </a:solidFill>
                <a:latin typeface="Aptos"/>
              </a:rPr>
              <a:t>Personal trigger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645152" y="228600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Preparing for I2 felt like collecting resources, not building readiness.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I wanted one place to practise vocabulary, affixes, synonyms, karangan phrases, and formal-letter patterns.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The missing medium was a repeatable routine with feedback and visible progress.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092440" y="1536192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8366760" y="181051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17105A"/>
                </a:solidFill>
                <a:latin typeface="Aptos"/>
              </a:rPr>
              <a:t>Team-level need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394192" y="228600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Multiple colleagues were preparing independently, duplicating effort.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There was no shared way to see which sections people actually used or where time was being spent.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A reusable platform could turn individual prep into a team learning asset.</a:t>
            </a:r>
          </a:p>
        </p:txBody>
      </p:sp>
      <p:sp>
        <p:nvSpPr>
          <p:cNvPr id="902" name="Shape 902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713232"/>
            <a:ext cx="5760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400" b="1">
                <a:solidFill>
                  <a:srgbClr val="17105A"/>
                </a:solidFill>
                <a:latin typeface="Aptos"/>
              </a:rPr>
              <a:t>KataPult turns exam readiness into a daily practice loop.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713232"/>
            <a:ext cx="5349240" cy="4069080"/>
          </a:xfrm>
          <a:prstGeom prst="rect">
            <a:avLst/>
          </a:prstGeom>
        </p:spPr>
      </p:pic>
      <p:sp>
        <p:nvSpPr>
          <p:cNvPr id="6" name="Shape 6"/>
          <p:cNvSpPr txBox="1"/>
          <p:nvPr/>
        </p:nvSpPr>
        <p:spPr>
          <a:xfrm>
            <a:off x="777240" y="1600200"/>
            <a:ext cx="1737360" cy="73152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F3EEFF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400" b="1">
                <a:solidFill>
                  <a:srgbClr val="6D4FE8"/>
                </a:solidFill>
                <a:latin typeface="Aptos"/>
              </a:rPr>
              <a:t>1
Choose module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788920" y="1600200"/>
            <a:ext cx="1737360" cy="731520"/>
          </a:xfrm>
          <a:prstGeom prst="roundRect">
            <a:avLst/>
          </a:prstGeom>
          <a:solidFill>
            <a:srgbClr val="DDF8F8"/>
          </a:solidFill>
          <a:ln w="12700">
            <a:solidFill>
              <a:srgbClr val="DDF8F8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400" b="1">
                <a:solidFill>
                  <a:srgbClr val="007C89"/>
                </a:solidFill>
                <a:latin typeface="Aptos"/>
              </a:rPr>
              <a:t>2
Practise actively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2743200"/>
            <a:ext cx="1737360" cy="7315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3E0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400" b="1">
                <a:solidFill>
                  <a:srgbClr val="C15C00"/>
                </a:solidFill>
                <a:latin typeface="Aptos"/>
              </a:rPr>
              <a:t>3
Get feedback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2788920" y="2743200"/>
            <a:ext cx="1737360" cy="7315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400" b="1">
                <a:solidFill>
                  <a:srgbClr val="2E7D5B"/>
                </a:solidFill>
                <a:latin typeface="Aptos"/>
              </a:rPr>
              <a:t>4
Track progress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49808" y="4069080"/>
            <a:ext cx="4709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400" b="0">
                <a:solidFill>
                  <a:srgbClr val="1F2A44"/>
                </a:solidFill>
                <a:latin typeface="Aptos"/>
              </a:rPr>
              <a:t>Instead of one long course, KataPult is split into exam-relevant practice surfaces: build vocabulary, form words, recognise synonyms, rehearse writing phrases, then test under pressure.</a:t>
            </a:r>
          </a:p>
        </p:txBody>
      </p:sp>
      <p:sp>
        <p:nvSpPr>
          <p:cNvPr id="903" name="Shape 903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FEATURE HIGHLIGHTS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658368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400" b="1">
                <a:solidFill>
                  <a:srgbClr val="17105A"/>
                </a:solidFill>
                <a:latin typeface="Aptos"/>
              </a:rPr>
              <a:t>Four design choices make it award-worthy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94360" y="132588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6" name="Shape 6"/>
          <p:cNvSpPr txBox="1"/>
          <p:nvPr/>
        </p:nvSpPr>
        <p:spPr>
          <a:xfrm>
            <a:off x="822960" y="1572768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6D4FE8"/>
                </a:solidFill>
                <a:latin typeface="Aptos"/>
              </a:rPr>
              <a:t>01 Modular by exam skill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2286000" cy="1508760"/>
          </a:xfrm>
          <a:prstGeom prst="rect">
            <a:avLst/>
          </a:prstGeom>
        </p:spPr>
      </p:pic>
      <p:sp>
        <p:nvSpPr>
          <p:cNvPr id="8" name="Shape 8"/>
          <p:cNvSpPr txBox="1"/>
          <p:nvPr/>
        </p:nvSpPr>
        <p:spPr>
          <a:xfrm>
            <a:off x="822960" y="3749039"/>
            <a:ext cx="2240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150" b="0">
                <a:solidFill>
                  <a:srgbClr val="1F2A44"/>
                </a:solidFill>
                <a:latin typeface="Aptos"/>
              </a:rPr>
              <a:t>Learners jump straight into the section they need: vocabulary, imbuhan, persamaan, karangan, surat rasmi, flashcards, and custom tests.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611880" y="132588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10" name="Shape 10"/>
          <p:cNvSpPr txBox="1"/>
          <p:nvPr/>
        </p:nvSpPr>
        <p:spPr>
          <a:xfrm>
            <a:off x="3840480" y="1572768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6D4FE8"/>
                </a:solidFill>
                <a:latin typeface="Aptos"/>
              </a:rPr>
              <a:t>02 Active recall + feedback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11680"/>
            <a:ext cx="2286000" cy="1508760"/>
          </a:xfrm>
          <a:prstGeom prst="rect">
            <a:avLst/>
          </a:prstGeom>
        </p:spPr>
      </p:pic>
      <p:sp>
        <p:nvSpPr>
          <p:cNvPr id="12" name="Shape 12"/>
          <p:cNvSpPr txBox="1"/>
          <p:nvPr/>
        </p:nvSpPr>
        <p:spPr>
          <a:xfrm>
            <a:off x="3840480" y="3749039"/>
            <a:ext cx="2240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150" b="0">
                <a:solidFill>
                  <a:srgbClr val="1F2A44"/>
                </a:solidFill>
                <a:latin typeface="Aptos"/>
              </a:rPr>
              <a:t>The app asks users to retrieve answers, not just read lists. Immediate correctness feedback helps convert weak recall into exam readiness.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629400" y="132588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14" name="Shape 14"/>
          <p:cNvSpPr txBox="1"/>
          <p:nvPr/>
        </p:nvSpPr>
        <p:spPr>
          <a:xfrm>
            <a:off x="6858000" y="1572768"/>
            <a:ext cx="2057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6D4FE8"/>
                </a:solidFill>
                <a:latin typeface="Aptos"/>
              </a:rPr>
              <a:t>03 Gamified momentum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11680"/>
            <a:ext cx="2057400" cy="1508760"/>
          </a:xfrm>
          <a:prstGeom prst="rect">
            <a:avLst/>
          </a:prstGeom>
        </p:spPr>
      </p:pic>
      <p:sp>
        <p:nvSpPr>
          <p:cNvPr id="16" name="Shape 16"/>
          <p:cNvSpPr txBox="1"/>
          <p:nvPr/>
        </p:nvSpPr>
        <p:spPr>
          <a:xfrm>
            <a:off x="6858000" y="3749039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150" b="0">
                <a:solidFill>
                  <a:srgbClr val="1F2A44"/>
                </a:solidFill>
                <a:latin typeface="Aptos"/>
              </a:rPr>
              <a:t>Daily challenge, XP, levels, streaks, and limited lives make practice feel like a habit, not homework.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9418320" y="1325880"/>
            <a:ext cx="2240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18" name="Shape 18"/>
          <p:cNvSpPr txBox="1"/>
          <p:nvPr/>
        </p:nvSpPr>
        <p:spPr>
          <a:xfrm>
            <a:off x="9628632" y="1572768"/>
            <a:ext cx="1828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500" b="1">
                <a:solidFill>
                  <a:srgbClr val="6D4FE8"/>
                </a:solidFill>
                <a:latin typeface="Aptos"/>
              </a:rPr>
              <a:t>04 Measurable usage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9628632" y="2148840"/>
            <a:ext cx="1783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200" b="0">
                <a:solidFill>
                  <a:srgbClr val="1F2A44"/>
                </a:solidFill>
                <a:latin typeface="Aptos"/>
              </a:rPr>
              <a:t>Per-user events</a:t>
            </a:r>
          </a:p>
          <a:p>
            <a:pPr algn="l" marL="260000" indent="-180000">
              <a:buChar char="?"/>
            </a:pPr>
            <a:r>
              <a:rPr lang="en-US" sz="1200" b="0">
                <a:solidFill>
                  <a:srgbClr val="1F2A44"/>
                </a:solidFill>
                <a:latin typeface="Aptos"/>
              </a:rPr>
              <a:t>Section visited</a:t>
            </a:r>
          </a:p>
          <a:p>
            <a:pPr algn="l" marL="260000" indent="-180000">
              <a:buChar char="?"/>
            </a:pPr>
            <a:r>
              <a:rPr lang="en-US" sz="1200" b="0">
                <a:solidFill>
                  <a:srgbClr val="1F2A44"/>
                </a:solidFill>
                <a:latin typeface="Aptos"/>
              </a:rPr>
              <a:t>Time per section</a:t>
            </a:r>
          </a:p>
          <a:p>
            <a:pPr algn="l" marL="260000" indent="-180000">
              <a:buChar char="?"/>
            </a:pPr>
            <a:r>
              <a:rPr lang="en-US" sz="1200" b="0">
                <a:solidFill>
                  <a:srgbClr val="1F2A44"/>
                </a:solidFill>
                <a:latin typeface="Aptos"/>
              </a:rPr>
              <a:t>Total session time</a:t>
            </a:r>
          </a:p>
        </p:txBody>
      </p:sp>
      <p:sp>
        <p:nvSpPr>
          <p:cNvPr id="904" name="Shape 904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DEMO: THE LEARNING SURFACE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621792"/>
            <a:ext cx="6126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200" b="1">
                <a:solidFill>
                  <a:srgbClr val="17105A"/>
                </a:solidFill>
                <a:latin typeface="Aptos"/>
              </a:rPr>
              <a:t>A learner can move from discovery to focused practice in seconds.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3611880" cy="224028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3611880" cy="224028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234440"/>
            <a:ext cx="3611880" cy="2240280"/>
          </a:xfrm>
          <a:prstGeom prst="rect">
            <a:avLst/>
          </a:prstGeom>
        </p:spPr>
      </p:pic>
      <p:sp>
        <p:nvSpPr>
          <p:cNvPr id="8" name="Shape 8"/>
          <p:cNvSpPr txBox="1"/>
          <p:nvPr/>
        </p:nvSpPr>
        <p:spPr>
          <a:xfrm>
            <a:off x="594360" y="3703320"/>
            <a:ext cx="3611880" cy="50292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F3EEFF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200" b="1">
                <a:solidFill>
                  <a:srgbClr val="6D4FE8"/>
                </a:solidFill>
                <a:latin typeface="Aptos"/>
              </a:rPr>
              <a:t>Vocabulary: examples + recall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4297680" y="3703320"/>
            <a:ext cx="3611880" cy="502920"/>
          </a:xfrm>
          <a:prstGeom prst="roundRect">
            <a:avLst/>
          </a:prstGeom>
          <a:solidFill>
            <a:srgbClr val="DDF8F8"/>
          </a:solidFill>
          <a:ln w="12700">
            <a:solidFill>
              <a:srgbClr val="DDF8F8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200" b="1">
                <a:solidFill>
                  <a:srgbClr val="007C89"/>
                </a:solidFill>
                <a:latin typeface="Aptos"/>
              </a:rPr>
              <a:t>Imbuhan: word formation drills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001000" y="3703320"/>
            <a:ext cx="3611880" cy="5029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3E0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200" b="1">
                <a:solidFill>
                  <a:srgbClr val="C15C00"/>
                </a:solidFill>
                <a:latin typeface="Aptos"/>
              </a:rPr>
              <a:t>Persamaan: synonym MCQ practice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777240" y="4663440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400" b="0">
                <a:solidFill>
                  <a:srgbClr val="1F2A44"/>
                </a:solidFill>
                <a:latin typeface="Aptos"/>
              </a:rPr>
              <a:t>Demo angle: show that this is not generic language learning. It targets Bahasa exam sub-skills that learners repeatedly struggle with: word formation, synonym precision, formal phrasing, and timed recall.</a:t>
            </a:r>
          </a:p>
        </p:txBody>
      </p:sp>
      <p:sp>
        <p:nvSpPr>
          <p:cNvPr id="905" name="Shape 905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DEMO: RETENTION + ASSESSMENT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658368"/>
            <a:ext cx="6858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200" b="1">
                <a:solidFill>
                  <a:srgbClr val="17105A"/>
                </a:solidFill>
                <a:latin typeface="Aptos"/>
              </a:rPr>
              <a:t>KataPult combines spaced review, lightweight games, and custom testing.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5303520" cy="324612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34440"/>
            <a:ext cx="5303520" cy="3246120"/>
          </a:xfrm>
          <a:prstGeom prst="rect">
            <a:avLst/>
          </a:prstGeom>
        </p:spPr>
      </p:pic>
      <p:sp>
        <p:nvSpPr>
          <p:cNvPr id="7" name="Shape 7"/>
          <p:cNvSpPr txBox="1"/>
          <p:nvPr/>
        </p:nvSpPr>
        <p:spPr>
          <a:xfrm>
            <a:off x="777240" y="4800600"/>
            <a:ext cx="2331720" cy="45720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F3EEFF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300" b="1">
                <a:solidFill>
                  <a:srgbClr val="6D4FE8"/>
                </a:solidFill>
                <a:latin typeface="Aptos"/>
              </a:rPr>
              <a:t>Flashcards + SRS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5394960"/>
            <a:ext cx="4526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Review key phrases and bring due items back at the right time instead of rereading everything.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446520" y="4800600"/>
            <a:ext cx="233172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3E0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300" b="1">
                <a:solidFill>
                  <a:srgbClr val="C15C00"/>
                </a:solidFill>
                <a:latin typeface="Aptos"/>
              </a:rPr>
              <a:t>Custom test mode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446520" y="5394960"/>
            <a:ext cx="4526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Let learners generate focused practice under pressure, closer to the way they will be assessed.</a:t>
            </a:r>
          </a:p>
        </p:txBody>
      </p:sp>
      <p:sp>
        <p:nvSpPr>
          <p:cNvPr id="906" name="Shape 906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MEASURABLE LEARNING LOOP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658368"/>
            <a:ext cx="6675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300" b="1">
                <a:solidFill>
                  <a:srgbClr val="17105A"/>
                </a:solidFill>
                <a:latin typeface="Aptos"/>
              </a:rPr>
              <a:t>The app now measures not just visits, but learning behaviour.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77240" y="1417320"/>
            <a:ext cx="2103120" cy="777240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F3EEFF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300" b="1">
                <a:solidFill>
                  <a:srgbClr val="6D4FE8"/>
                </a:solidFill>
                <a:latin typeface="Aptos"/>
              </a:rPr>
              <a:t>Section_Visited
section + route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3154680" y="1417320"/>
            <a:ext cx="2103120" cy="777240"/>
          </a:xfrm>
          <a:prstGeom prst="roundRect">
            <a:avLst/>
          </a:prstGeom>
          <a:solidFill>
            <a:srgbClr val="DDF8F8"/>
          </a:solidFill>
          <a:ln w="12700">
            <a:solidFill>
              <a:srgbClr val="DDF8F8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300" b="1">
                <a:solidFill>
                  <a:srgbClr val="007C89"/>
                </a:solidFill>
                <a:latin typeface="Aptos"/>
              </a:rPr>
              <a:t>Time_Spent_Section
duration_seconds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532120" y="1417320"/>
            <a:ext cx="2103120" cy="7772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F3E0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300" b="1">
                <a:solidFill>
                  <a:srgbClr val="C15C00"/>
                </a:solidFill>
                <a:latin typeface="Aptos"/>
              </a:rPr>
              <a:t>Total_Session_Time
whole visit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909560" y="1417320"/>
            <a:ext cx="2103120" cy="777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300" b="1">
                <a:solidFill>
                  <a:srgbClr val="2E7D5B"/>
                </a:solidFill>
                <a:latin typeface="Aptos"/>
              </a:rPr>
              <a:t>Distinct ID
stable browser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77240" y="2834640"/>
            <a:ext cx="9509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400" b="0">
                <a:solidFill>
                  <a:srgbClr val="1F2A44"/>
                </a:solidFill>
                <a:latin typeface="Aptos"/>
              </a:rPr>
              <a:t>This lets the team answer: which sections are used, which learners return, where time is spent, and whether adoption is spreading beyond the creator.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77240" y="3886200"/>
            <a:ext cx="10241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 txBox="1"/>
          <p:nvPr/>
        </p:nvSpPr>
        <p:spPr>
          <a:xfrm>
            <a:off x="1051560" y="4160520"/>
            <a:ext cx="9692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300" b="0">
                <a:solidFill>
                  <a:srgbClr val="1F2A44"/>
                </a:solidFill>
                <a:latin typeface="Aptos"/>
              </a:rPr>
              <a:t>Award framing: KataPult is not only a content app; it is a learning system with feedback loops for both learners and programme owners.</a:t>
            </a:r>
          </a:p>
          <a:p>
            <a:pPr algn="l" marL="260000" indent="-180000">
              <a:buChar char="?"/>
            </a:pPr>
            <a:r>
              <a:rPr lang="en-US" sz="1300" b="0">
                <a:solidFill>
                  <a:srgbClr val="1F2A44"/>
                </a:solidFill>
                <a:latin typeface="Aptos"/>
              </a:rPr>
              <a:t>The analytics layer turns anecdotal adoption into evidence: people, sections, total time, and section-level engagement.</a:t>
            </a:r>
          </a:p>
        </p:txBody>
      </p:sp>
      <p:sp>
        <p:nvSpPr>
          <p:cNvPr id="907" name="Shape 907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IMPACT + ADOPTION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658368"/>
            <a:ext cx="6492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300" b="1">
                <a:solidFill>
                  <a:srgbClr val="17105A"/>
                </a:solidFill>
                <a:latin typeface="Aptos"/>
              </a:rPr>
              <a:t>Early adoption shows the idea solves a real prep problem.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85800" y="13258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6" name="Shape 6"/>
          <p:cNvSpPr txBox="1"/>
          <p:nvPr/>
        </p:nvSpPr>
        <p:spPr>
          <a:xfrm>
            <a:off x="960120" y="1627632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600" b="1">
                <a:solidFill>
                  <a:srgbClr val="17105A"/>
                </a:solidFill>
                <a:latin typeface="Aptos"/>
              </a:rPr>
              <a:t>Observed impact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60120" y="2148840"/>
            <a:ext cx="2560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Colleagues from different teams have started using the app for Bahasa learning and exam preparation.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It creates one shared prep surface instead of duplicated personal notes.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The app supports short, repeatable practice routines.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343400" y="13258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9" name="Shape 9"/>
          <p:cNvSpPr txBox="1"/>
          <p:nvPr/>
        </p:nvSpPr>
        <p:spPr>
          <a:xfrm>
            <a:off x="4617720" y="1627632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600" b="1">
                <a:solidFill>
                  <a:srgbClr val="17105A"/>
                </a:solidFill>
                <a:latin typeface="Aptos"/>
              </a:rPr>
              <a:t>Evidence to include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617720" y="2148840"/>
            <a:ext cx="2560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# unique learners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# teams represented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# sessions / active days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Top sections by time spent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Example learner feedback quote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001000" y="13258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 txBox="1"/>
          <p:nvPr/>
        </p:nvSpPr>
        <p:spPr>
          <a:xfrm>
            <a:off x="8275320" y="1627632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1600" b="1">
                <a:solidFill>
                  <a:srgbClr val="17105A"/>
                </a:solidFill>
                <a:latin typeface="Aptos"/>
              </a:rPr>
              <a:t>Why it scales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275320" y="2148840"/>
            <a:ext cx="25603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Web-based: no installation needed.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Modular: new content sets can be added without changing the product concept.</a:t>
            </a:r>
          </a:p>
          <a:p>
            <a:pPr algn="l" marL="260000" indent="-180000">
              <a:buChar char="?"/>
            </a:pPr>
            <a:r>
              <a:rPr lang="en-US" sz="1250" b="0">
                <a:solidFill>
                  <a:srgbClr val="1F2A44"/>
                </a:solidFill>
                <a:latin typeface="Aptos"/>
              </a:rPr>
              <a:t>Measurable: adoption and learning behaviour can be tracked over time.</a:t>
            </a:r>
          </a:p>
        </p:txBody>
      </p:sp>
      <p:sp>
        <p:nvSpPr>
          <p:cNvPr id="908" name="Shape 908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DEMO STORYBOARD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94360" y="658368"/>
            <a:ext cx="749807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300" b="1">
                <a:solidFill>
                  <a:srgbClr val="17105A"/>
                </a:solidFill>
                <a:latin typeface="Aptos"/>
              </a:rPr>
              <a:t>Recommended 3-minute demo flow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685800" y="1325880"/>
            <a:ext cx="107899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/>
          <a:lstStyle/>
          <a:p/>
        </p:txBody>
      </p:sp>
      <p:sp>
        <p:nvSpPr>
          <p:cNvPr id="6" name="Shape 6"/>
          <p:cNvSpPr txBox="1"/>
          <p:nvPr/>
        </p:nvSpPr>
        <p:spPr>
          <a:xfrm>
            <a:off x="960120" y="1691640"/>
            <a:ext cx="101498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1. Start on Home: show learning path, XP/streak, and the idea of short daily practice.</a:t>
            </a:r>
          </a:p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2. Open Vocabulary: show example sentences and translation, then frame it as exam-ready recall.</a:t>
            </a:r>
          </a:p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3. Open Imbuhan or Persamaan: show targeted weakness practice that static notes do not provide.</a:t>
            </a:r>
          </a:p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4. Open Flashcards / Custom Test: show retention and assessment under pressure.</a:t>
            </a:r>
          </a:p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5. End on PostHog: show section-level events and time spent per user as impact evidence.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960120" y="5349240"/>
            <a:ext cx="3840480" cy="347472"/>
          </a:xfrm>
          <a:prstGeom prst="roundRect">
            <a:avLst/>
          </a:prstGeom>
          <a:solidFill>
            <a:srgbClr val="F3EEFF"/>
          </a:solidFill>
          <a:ln w="12700">
            <a:solidFill>
              <a:srgbClr val="F3EEFF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050" b="1">
                <a:solidFill>
                  <a:srgbClr val="6D4FE8"/>
                </a:solidFill>
                <a:latin typeface="Aptos"/>
              </a:rPr>
              <a:t>Close with: reusable, self-serve, measurable learning.</a:t>
            </a:r>
          </a:p>
        </p:txBody>
      </p:sp>
      <p:sp>
        <p:nvSpPr>
          <p:cNvPr id="909" name="Shape 909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105A"/>
          </a:solidFill>
          <a:ln w="12700">
            <a:solidFill>
              <a:srgbClr val="17105A"/>
            </a:solidFill>
          </a:ln>
        </p:spPr>
        <p:txBody>
          <a:bodyPr/>
          <a:lstStyle/>
          <a:p/>
        </p:txBody>
      </p:sp>
      <p:sp>
        <p:nvSpPr>
          <p:cNvPr id="3" name="Shape 3"/>
          <p:cNvSpPr txBox="1"/>
          <p:nvPr/>
        </p:nvSpPr>
        <p:spPr>
          <a:xfrm>
            <a:off x="411480" y="73152"/>
            <a:ext cx="73152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900" b="1">
                <a:solidFill>
                  <a:srgbClr val="FFFFFF"/>
                </a:solidFill>
                <a:latin typeface="Aptos"/>
              </a:rPr>
              <a:t>CLOSING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658368" y="82296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0" indent="0">
              <a:buNone/>
            </a:pPr>
            <a:r>
              <a:rPr lang="en-US" sz="2700" b="1">
                <a:solidFill>
                  <a:srgbClr val="17105A"/>
                </a:solidFill>
                <a:latin typeface="Aptos"/>
              </a:rPr>
              <a:t>KataPult is an innovation because it makes exam preparation more accessible, habitual, and measurable.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828800"/>
            <a:ext cx="4572000" cy="3063240"/>
          </a:xfrm>
          <a:prstGeom prst="rect">
            <a:avLst/>
          </a:prstGeom>
        </p:spPr>
      </p:pic>
      <p:sp>
        <p:nvSpPr>
          <p:cNvPr id="6" name="Shape 6"/>
          <p:cNvSpPr txBox="1"/>
          <p:nvPr/>
        </p:nvSpPr>
        <p:spPr>
          <a:xfrm>
            <a:off x="749808" y="205740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Built from an authentic learner pain point.</a:t>
            </a:r>
          </a:p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Designed around specific Bahasa I2 exam sub-skills.</a:t>
            </a:r>
          </a:p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Adopted by colleagues beyond the original creator.</a:t>
            </a:r>
          </a:p>
          <a:p>
            <a:pPr algn="l" marL="260000" indent="-180000">
              <a:buChar char="?"/>
            </a:pPr>
            <a:r>
              <a:rPr lang="en-US" sz="1500" b="0">
                <a:solidFill>
                  <a:srgbClr val="1F2A44"/>
                </a:solidFill>
                <a:latin typeface="Aptos"/>
              </a:rPr>
              <a:t>Instrumented to show usage, section visits, and time spent.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49808" y="4800600"/>
            <a:ext cx="4480560" cy="502920"/>
          </a:xfrm>
          <a:prstGeom prst="roundRect">
            <a:avLst/>
          </a:prstGeom>
          <a:solidFill>
            <a:srgbClr val="6D4FE8"/>
          </a:solidFill>
          <a:ln w="12700">
            <a:solidFill>
              <a:srgbClr val="6D4FE8"/>
            </a:solidFill>
          </a:ln>
        </p:spPr>
        <p:txBody>
          <a:bodyPr wrap="square" anchor="mid"/>
          <a:lstStyle/>
          <a:p>
            <a:pPr algn="c" marL="0" indent="0">
              <a:buNone/>
            </a:pPr>
            <a:r>
              <a:rPr lang="en-US" sz="1300" b="1">
                <a:solidFill>
                  <a:srgbClr val="FFFFFF"/>
                </a:solidFill>
                <a:latin typeface="Aptos"/>
              </a:rPr>
              <a:t>From personal pain point to team learning platform</a:t>
            </a:r>
          </a:p>
        </p:txBody>
      </p:sp>
      <p:sp>
        <p:nvSpPr>
          <p:cNvPr id="910" name="Shape 910"/>
          <p:cNvSpPr txBox="1"/>
          <p:nvPr/>
        </p:nvSpPr>
        <p:spPr>
          <a:xfrm>
            <a:off x="10881360" y="6473952"/>
            <a:ext cx="82296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mid"/>
          <a:lstStyle/>
          <a:p>
            <a:pPr algn="r" marL="0" indent="0">
              <a:buNone/>
            </a:pPr>
            <a:r>
              <a:rPr lang="en-US" sz="900" b="0">
                <a:solidFill>
                  <a:srgbClr val="66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Pult">
  <a:themeElements>
    <a:clrScheme name="KataPult">
      <a:dk1>
        <a:srgbClr val="17105A"/>
      </a:dk1>
      <a:lt1>
        <a:srgbClr val="FFFFFF"/>
      </a:lt1>
      <a:dk2>
        <a:srgbClr val="1F2A44"/>
      </a:dk2>
      <a:lt2>
        <a:srgbClr val="F8FAFC"/>
      </a:lt2>
      <a:accent1>
        <a:srgbClr val="6D4FE8"/>
      </a:accent1>
      <a:accent2>
        <a:srgbClr val="00A6B2"/>
      </a:accent2>
      <a:accent3>
        <a:srgbClr val="FF9F43"/>
      </a:accent3>
      <a:accent4>
        <a:srgbClr val="2E7D5B"/>
      </a:accent4>
      <a:accent5>
        <a:srgbClr val="D64545"/>
      </a:accent5>
      <a:accent6>
        <a:srgbClr val="667085"/>
      </a:accent6>
      <a:hlink>
        <a:srgbClr val="6D4FE8"/>
      </a:hlink>
      <a:folHlink>
        <a:srgbClr val="6D4FE8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KataPult Innovation Award Showcase</dc:title>
  <dc:creator>Frazer Tay / Codex</dc:creator>
  <cp:lastModifiedBy>Codex</cp:lastModifiedBy>
</cp:coreProperties>
</file>